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pic>
        <p:nvPicPr>
          <p:cNvPr id="2" name="Image 0" descr="/home/claude/logo_transparent.png">    </p:cNvPr>
          <p:cNvPicPr>
            <a:picLocks noChangeAspect="1"/>
          </p:cNvPicPr>
          <p:nvPr/>
        </p:nvPicPr>
        <p:blipFill>
          <a:blip r:embed="rId1"/>
          <a:stretch>
            <a:fillRect/>
          </a:stretch>
        </p:blipFill>
        <p:spPr>
          <a:xfrm>
            <a:off x="4449928" y="777240"/>
            <a:ext cx="3291840" cy="2484008"/>
          </a:xfrm>
          <a:prstGeom prst="rect">
            <a:avLst/>
          </a:prstGeom>
        </p:spPr>
      </p:pic>
      <p:sp>
        <p:nvSpPr>
          <p:cNvPr id="3" name="Text 0"/>
          <p:cNvSpPr/>
          <p:nvPr/>
        </p:nvSpPr>
        <p:spPr>
          <a:xfrm>
            <a:off x="1097280" y="3489848"/>
            <a:ext cx="9997135" cy="548640"/>
          </a:xfrm>
          <a:prstGeom prst="rect">
            <a:avLst/>
          </a:prstGeom>
          <a:noFill/>
          <a:ln/>
        </p:spPr>
        <p:txBody>
          <a:bodyPr wrap="square" lIns="0" tIns="0" rIns="0" bIns="0" rtlCol="0" anchor="ctr"/>
          <a:lstStyle/>
          <a:p>
            <a:pPr algn="ctr" indent="0" marL="0">
              <a:buNone/>
            </a:pPr>
            <a:r>
              <a:rPr lang="en-US" sz="2200" b="1" dirty="0">
                <a:solidFill>
                  <a:srgbClr val="E8564A"/>
                </a:solidFill>
                <a:latin typeface="Baloo 2" pitchFamily="34" charset="0"/>
                <a:ea typeface="Baloo 2" pitchFamily="34" charset="-122"/>
                <a:cs typeface="Baloo 2" pitchFamily="34" charset="-120"/>
              </a:rPr>
              <a:t>Your games. Your history. Your basket.</a:t>
            </a:r>
            <a:endParaRPr lang="en-US" sz="2200" dirty="0"/>
          </a:p>
        </p:txBody>
      </p:sp>
      <p:sp>
        <p:nvSpPr>
          <p:cNvPr id="4" name="Text 1"/>
          <p:cNvSpPr/>
          <p:nvPr/>
        </p:nvSpPr>
        <p:spPr>
          <a:xfrm>
            <a:off x="1828800" y="4038488"/>
            <a:ext cx="8534095" cy="640080"/>
          </a:xfrm>
          <a:prstGeom prst="rect">
            <a:avLst/>
          </a:prstGeom>
          <a:noFill/>
          <a:ln/>
        </p:spPr>
        <p:txBody>
          <a:bodyPr wrap="square" lIns="0" tIns="0" rIns="0" bIns="0" rtlCol="0" anchor="ctr"/>
          <a:lstStyle/>
          <a:p>
            <a:pPr algn="ctr" indent="0" marL="0">
              <a:buNone/>
            </a:pPr>
            <a:r>
              <a:rPr lang="en-US" sz="1400" dirty="0">
                <a:solidFill>
                  <a:srgbClr val="9AA1B4"/>
                </a:solidFill>
                <a:latin typeface="Calibri" pitchFamily="34" charset="0"/>
                <a:ea typeface="Calibri" pitchFamily="34" charset="-122"/>
                <a:cs typeface="Calibri" pitchFamily="34" charset="-120"/>
              </a:rPr>
              <a:t>A social app for tracking, rating, and reliving the games you actually play — built the way Letterboxd built film, for the medium that actually deserves it.</a:t>
            </a:r>
            <a:endParaRPr lang="en-US" sz="1400" dirty="0"/>
          </a:p>
        </p:txBody>
      </p:sp>
      <p:sp>
        <p:nvSpPr>
          <p:cNvPr id="5" name="Shape 2"/>
          <p:cNvSpPr/>
          <p:nvPr/>
        </p:nvSpPr>
        <p:spPr>
          <a:xfrm>
            <a:off x="5638648" y="5806440"/>
            <a:ext cx="146304" cy="146304"/>
          </a:xfrm>
          <a:prstGeom prst="ellipse">
            <a:avLst/>
          </a:prstGeom>
          <a:solidFill>
            <a:srgbClr val="E8564A"/>
          </a:solidFill>
          <a:ln/>
        </p:spPr>
      </p:sp>
      <p:sp>
        <p:nvSpPr>
          <p:cNvPr id="6" name="Shape 3"/>
          <p:cNvSpPr/>
          <p:nvPr/>
        </p:nvSpPr>
        <p:spPr>
          <a:xfrm>
            <a:off x="5894680" y="5806440"/>
            <a:ext cx="146304" cy="146304"/>
          </a:xfrm>
          <a:prstGeom prst="ellipse">
            <a:avLst/>
          </a:prstGeom>
          <a:solidFill>
            <a:srgbClr val="2E56A6"/>
          </a:solidFill>
          <a:ln/>
        </p:spPr>
      </p:sp>
      <p:sp>
        <p:nvSpPr>
          <p:cNvPr id="7" name="Shape 4"/>
          <p:cNvSpPr/>
          <p:nvPr/>
        </p:nvSpPr>
        <p:spPr>
          <a:xfrm>
            <a:off x="6150712" y="5806440"/>
            <a:ext cx="146304" cy="146304"/>
          </a:xfrm>
          <a:prstGeom prst="ellipse">
            <a:avLst/>
          </a:prstGeom>
          <a:solidFill>
            <a:srgbClr val="47AD6C"/>
          </a:solidFill>
          <a:ln/>
        </p:spPr>
      </p:sp>
      <p:sp>
        <p:nvSpPr>
          <p:cNvPr id="8" name="Shape 5"/>
          <p:cNvSpPr/>
          <p:nvPr/>
        </p:nvSpPr>
        <p:spPr>
          <a:xfrm>
            <a:off x="6406744" y="5806440"/>
            <a:ext cx="146304" cy="146304"/>
          </a:xfrm>
          <a:prstGeom prst="ellipse">
            <a:avLst/>
          </a:prstGeom>
          <a:solidFill>
            <a:srgbClr val="F1BC33"/>
          </a:solidFill>
          <a:ln/>
        </p:spPr>
      </p:sp>
      <p:sp>
        <p:nvSpPr>
          <p:cNvPr id="9" name="Text 6"/>
          <p:cNvSpPr/>
          <p:nvPr/>
        </p:nvSpPr>
        <p:spPr>
          <a:xfrm>
            <a:off x="1371600" y="6172200"/>
            <a:ext cx="9448495" cy="365760"/>
          </a:xfrm>
          <a:prstGeom prst="rect">
            <a:avLst/>
          </a:prstGeom>
          <a:noFill/>
          <a:ln/>
        </p:spPr>
        <p:txBody>
          <a:bodyPr wrap="square" lIns="0" tIns="0" rIns="0" bIns="0" rtlCol="0" anchor="ctr"/>
          <a:lstStyle/>
          <a:p>
            <a:pPr algn="ctr" indent="0" marL="0">
              <a:buNone/>
            </a:pPr>
            <a:r>
              <a:rPr lang="en-US" sz="1100" i="1" dirty="0">
                <a:solidFill>
                  <a:srgbClr val="616880"/>
                </a:solidFill>
                <a:latin typeface="Calibri" pitchFamily="34" charset="0"/>
                <a:ea typeface="Calibri" pitchFamily="34" charset="-122"/>
                <a:cs typeface="Calibri" pitchFamily="34" charset="-120"/>
              </a:rPr>
              <a:t>A proof-of-concept pitch — built to explore this idea together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Gamers don't have a home for their game history</a:t>
            </a:r>
            <a:endParaRPr lang="en-US" sz="3200" dirty="0"/>
          </a:p>
        </p:txBody>
      </p:sp>
      <p:sp>
        <p:nvSpPr>
          <p:cNvPr id="3" name="Text 1"/>
          <p:cNvSpPr/>
          <p:nvPr/>
        </p:nvSpPr>
        <p:spPr>
          <a:xfrm>
            <a:off x="640080" y="1417320"/>
            <a:ext cx="10911535" cy="822960"/>
          </a:xfrm>
          <a:prstGeom prst="rect">
            <a:avLst/>
          </a:prstGeom>
          <a:noFill/>
          <a:ln/>
        </p:spPr>
        <p:txBody>
          <a:bodyPr wrap="square" lIns="0" tIns="0" rIns="0" bIns="0" rtlCol="0" anchor="ctr"/>
          <a:lstStyle/>
          <a:p>
            <a:pPr algn="l" indent="0" marL="0">
              <a:buNone/>
            </a:pPr>
            <a:r>
              <a:rPr lang="en-US" sz="1400" dirty="0">
                <a:solidFill>
                  <a:srgbClr val="9AA1B4"/>
                </a:solidFill>
                <a:latin typeface="Calibri" pitchFamily="34" charset="0"/>
                <a:ea typeface="Calibri" pitchFamily="34" charset="-122"/>
                <a:cs typeface="Calibri" pitchFamily="34" charset="-120"/>
              </a:rPr>
              <a:t>Letterboxd gave film a place to log, rate, and discover — built into a real community and a real business. Games have never had an equivalent winner. What exists today is fragmented, and the closest thing — Backloggd — still leaves real friction on the table:</a:t>
            </a:r>
            <a:endParaRPr lang="en-US" sz="1400" dirty="0"/>
          </a:p>
        </p:txBody>
      </p:sp>
      <p:sp>
        <p:nvSpPr>
          <p:cNvPr id="4" name="Shape 2"/>
          <p:cNvSpPr/>
          <p:nvPr/>
        </p:nvSpPr>
        <p:spPr>
          <a:xfrm>
            <a:off x="685800" y="2542032"/>
            <a:ext cx="201168" cy="201168"/>
          </a:xfrm>
          <a:prstGeom prst="ellipse">
            <a:avLst/>
          </a:prstGeom>
          <a:solidFill>
            <a:srgbClr val="E8564A"/>
          </a:solidFill>
          <a:ln/>
        </p:spPr>
      </p:sp>
      <p:sp>
        <p:nvSpPr>
          <p:cNvPr id="5" name="Text 3"/>
          <p:cNvSpPr/>
          <p:nvPr/>
        </p:nvSpPr>
        <p:spPr>
          <a:xfrm>
            <a:off x="1051560" y="2423160"/>
            <a:ext cx="10180015" cy="32004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Browser-only, for years</a:t>
            </a:r>
            <a:endParaRPr lang="en-US" sz="1500" dirty="0"/>
          </a:p>
        </p:txBody>
      </p:sp>
      <p:sp>
        <p:nvSpPr>
          <p:cNvPr id="6" name="Text 4"/>
          <p:cNvSpPr/>
          <p:nvPr/>
        </p:nvSpPr>
        <p:spPr>
          <a:xfrm>
            <a:off x="1051560" y="2761488"/>
            <a:ext cx="10180015" cy="4572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Still fundamentally a mobile-web experience — no real native app of its own.</a:t>
            </a:r>
            <a:endParaRPr lang="en-US" sz="1250" dirty="0"/>
          </a:p>
        </p:txBody>
      </p:sp>
      <p:sp>
        <p:nvSpPr>
          <p:cNvPr id="7" name="Shape 5"/>
          <p:cNvSpPr/>
          <p:nvPr/>
        </p:nvSpPr>
        <p:spPr>
          <a:xfrm>
            <a:off x="685800" y="3502152"/>
            <a:ext cx="201168" cy="201168"/>
          </a:xfrm>
          <a:prstGeom prst="ellipse">
            <a:avLst/>
          </a:prstGeom>
          <a:solidFill>
            <a:srgbClr val="2E56A6"/>
          </a:solidFill>
          <a:ln/>
        </p:spPr>
      </p:sp>
      <p:sp>
        <p:nvSpPr>
          <p:cNvPr id="8" name="Text 6"/>
          <p:cNvSpPr/>
          <p:nvPr/>
        </p:nvSpPr>
        <p:spPr>
          <a:xfrm>
            <a:off x="1051560" y="3383280"/>
            <a:ext cx="10180015" cy="32004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No auto-sync from Steam, PSN, or Xbox</a:t>
            </a:r>
            <a:endParaRPr lang="en-US" sz="1500" dirty="0"/>
          </a:p>
        </p:txBody>
      </p:sp>
      <p:sp>
        <p:nvSpPr>
          <p:cNvPr id="9" name="Text 7"/>
          <p:cNvSpPr/>
          <p:nvPr/>
        </p:nvSpPr>
        <p:spPr>
          <a:xfrm>
            <a:off x="1051560" y="3721608"/>
            <a:ext cx="10180015" cy="4572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Every game gets hand-logged, one at a time. Huge drop-off risk for anyone with a real library.</a:t>
            </a:r>
            <a:endParaRPr lang="en-US" sz="1250" dirty="0"/>
          </a:p>
        </p:txBody>
      </p:sp>
      <p:sp>
        <p:nvSpPr>
          <p:cNvPr id="10" name="Shape 8"/>
          <p:cNvSpPr/>
          <p:nvPr/>
        </p:nvSpPr>
        <p:spPr>
          <a:xfrm>
            <a:off x="685800" y="4462272"/>
            <a:ext cx="201168" cy="201168"/>
          </a:xfrm>
          <a:prstGeom prst="ellipse">
            <a:avLst/>
          </a:prstGeom>
          <a:solidFill>
            <a:srgbClr val="47AD6C"/>
          </a:solidFill>
          <a:ln/>
        </p:spPr>
      </p:sp>
      <p:sp>
        <p:nvSpPr>
          <p:cNvPr id="11" name="Text 9"/>
          <p:cNvSpPr/>
          <p:nvPr/>
        </p:nvSpPr>
        <p:spPr>
          <a:xfrm>
            <a:off x="1051560" y="4343400"/>
            <a:ext cx="10180015" cy="32004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Weak data portability</a:t>
            </a:r>
            <a:endParaRPr lang="en-US" sz="1500" dirty="0"/>
          </a:p>
        </p:txBody>
      </p:sp>
      <p:sp>
        <p:nvSpPr>
          <p:cNvPr id="12" name="Text 10"/>
          <p:cNvSpPr/>
          <p:nvPr/>
        </p:nvSpPr>
        <p:spPr>
          <a:xfrm>
            <a:off x="1051560" y="4681728"/>
            <a:ext cx="10180015" cy="4572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CSV export is locked behind paid “Backer” status — creates lock-in anxiety instead of trust.</a:t>
            </a:r>
            <a:endParaRPr lang="en-US" sz="1250" dirty="0"/>
          </a:p>
        </p:txBody>
      </p:sp>
      <p:sp>
        <p:nvSpPr>
          <p:cNvPr id="13" name="Shape 11"/>
          <p:cNvSpPr/>
          <p:nvPr/>
        </p:nvSpPr>
        <p:spPr>
          <a:xfrm>
            <a:off x="685800" y="5422392"/>
            <a:ext cx="201168" cy="201168"/>
          </a:xfrm>
          <a:prstGeom prst="ellipse">
            <a:avLst/>
          </a:prstGeom>
          <a:solidFill>
            <a:srgbClr val="F1BC33"/>
          </a:solidFill>
          <a:ln/>
        </p:spPr>
      </p:sp>
      <p:sp>
        <p:nvSpPr>
          <p:cNvPr id="14" name="Text 12"/>
          <p:cNvSpPr/>
          <p:nvPr/>
        </p:nvSpPr>
        <p:spPr>
          <a:xfrm>
            <a:off x="1051560" y="5303520"/>
            <a:ext cx="10180015" cy="32004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Slow, single-maintainer development</a:t>
            </a:r>
            <a:endParaRPr lang="en-US" sz="1500" dirty="0"/>
          </a:p>
        </p:txBody>
      </p:sp>
      <p:sp>
        <p:nvSpPr>
          <p:cNvPr id="15" name="Text 13"/>
          <p:cNvSpPr/>
          <p:nvPr/>
        </p:nvSpPr>
        <p:spPr>
          <a:xfrm>
            <a:off x="1051560" y="5641848"/>
            <a:ext cx="10180015" cy="4572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Built and maintained by one person — feature velocity is naturally limited.</a:t>
            </a:r>
            <a:endParaRPr lang="en-US" sz="1250" dirty="0"/>
          </a:p>
        </p:txBody>
      </p:sp>
      <p:sp>
        <p:nvSpPr>
          <p:cNvPr id="16" name="Text 14"/>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17" name="Shape 15"/>
          <p:cNvSpPr/>
          <p:nvPr/>
        </p:nvSpPr>
        <p:spPr>
          <a:xfrm>
            <a:off x="10765231" y="6437376"/>
            <a:ext cx="109728" cy="109728"/>
          </a:xfrm>
          <a:prstGeom prst="ellipse">
            <a:avLst/>
          </a:prstGeom>
          <a:solidFill>
            <a:srgbClr val="E8564A"/>
          </a:solidFill>
          <a:ln/>
        </p:spPr>
      </p:sp>
      <p:sp>
        <p:nvSpPr>
          <p:cNvPr id="18" name="Shape 16"/>
          <p:cNvSpPr/>
          <p:nvPr/>
        </p:nvSpPr>
        <p:spPr>
          <a:xfrm>
            <a:off x="10948111" y="6437376"/>
            <a:ext cx="109728" cy="109728"/>
          </a:xfrm>
          <a:prstGeom prst="ellipse">
            <a:avLst/>
          </a:prstGeom>
          <a:solidFill>
            <a:srgbClr val="2E56A6"/>
          </a:solidFill>
          <a:ln/>
        </p:spPr>
      </p:sp>
      <p:sp>
        <p:nvSpPr>
          <p:cNvPr id="19" name="Shape 17"/>
          <p:cNvSpPr/>
          <p:nvPr/>
        </p:nvSpPr>
        <p:spPr>
          <a:xfrm>
            <a:off x="11130991" y="6437376"/>
            <a:ext cx="109728" cy="109728"/>
          </a:xfrm>
          <a:prstGeom prst="ellipse">
            <a:avLst/>
          </a:prstGeom>
          <a:solidFill>
            <a:srgbClr val="47AD6C"/>
          </a:solidFill>
          <a:ln/>
        </p:spPr>
      </p:sp>
      <p:sp>
        <p:nvSpPr>
          <p:cNvPr id="20" name="Shape 18"/>
          <p:cNvSpPr/>
          <p:nvPr/>
        </p:nvSpPr>
        <p:spPr>
          <a:xfrm>
            <a:off x="11313871" y="6437376"/>
            <a:ext cx="109728" cy="109728"/>
          </a:xfrm>
          <a:prstGeom prst="ellipse">
            <a:avLst/>
          </a:prstGeom>
          <a:solidFill>
            <a:srgbClr val="F1BC33"/>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The gap is real — and the model already works</a:t>
            </a:r>
            <a:endParaRPr lang="en-US" sz="3200" dirty="0"/>
          </a:p>
        </p:txBody>
      </p:sp>
      <p:sp>
        <p:nvSpPr>
          <p:cNvPr id="3" name="Shape 1"/>
          <p:cNvSpPr/>
          <p:nvPr/>
        </p:nvSpPr>
        <p:spPr>
          <a:xfrm>
            <a:off x="640080" y="1554480"/>
            <a:ext cx="4114800" cy="3291840"/>
          </a:xfrm>
          <a:prstGeom prst="roundRect">
            <a:avLst>
              <a:gd name="adj" fmla="val 4444"/>
            </a:avLst>
          </a:prstGeom>
          <a:solidFill>
            <a:srgbClr val="1A1D29"/>
          </a:solidFill>
          <a:ln/>
        </p:spPr>
      </p:sp>
      <p:sp>
        <p:nvSpPr>
          <p:cNvPr id="4" name="Text 2"/>
          <p:cNvSpPr/>
          <p:nvPr/>
        </p:nvSpPr>
        <p:spPr>
          <a:xfrm>
            <a:off x="822960" y="1874520"/>
            <a:ext cx="3749040" cy="914400"/>
          </a:xfrm>
          <a:prstGeom prst="rect">
            <a:avLst/>
          </a:prstGeom>
          <a:noFill/>
          <a:ln/>
        </p:spPr>
        <p:txBody>
          <a:bodyPr wrap="square" lIns="0" tIns="0" rIns="0" bIns="0" rtlCol="0" anchor="ctr"/>
          <a:lstStyle/>
          <a:p>
            <a:pPr algn="ctr" indent="0" marL="0">
              <a:buNone/>
            </a:pPr>
            <a:r>
              <a:rPr lang="en-US" sz="5200" b="1" dirty="0">
                <a:solidFill>
                  <a:srgbClr val="E8564A"/>
                </a:solidFill>
                <a:latin typeface="Baloo 2" pitchFamily="34" charset="0"/>
                <a:ea typeface="Baloo 2" pitchFamily="34" charset="-122"/>
                <a:cs typeface="Baloo 2" pitchFamily="34" charset="-120"/>
              </a:rPr>
              <a:t>$3.62M</a:t>
            </a:r>
            <a:endParaRPr lang="en-US" sz="5200" dirty="0"/>
          </a:p>
        </p:txBody>
      </p:sp>
      <p:sp>
        <p:nvSpPr>
          <p:cNvPr id="5" name="Text 3"/>
          <p:cNvSpPr/>
          <p:nvPr/>
        </p:nvSpPr>
        <p:spPr>
          <a:xfrm>
            <a:off x="868680" y="2788920"/>
            <a:ext cx="3657600" cy="640080"/>
          </a:xfrm>
          <a:prstGeom prst="rect">
            <a:avLst/>
          </a:prstGeom>
          <a:noFill/>
          <a:ln/>
        </p:spPr>
        <p:txBody>
          <a:bodyPr wrap="square" lIns="0" tIns="0" rIns="0" bIns="0" rtlCol="0" anchor="ctr"/>
          <a:lstStyle/>
          <a:p>
            <a:pPr algn="ctr" indent="0" marL="0">
              <a:buNone/>
            </a:pPr>
            <a:r>
              <a:rPr lang="en-US" sz="1250" dirty="0">
                <a:solidFill>
                  <a:srgbClr val="F4F5F9"/>
                </a:solidFill>
                <a:latin typeface="Calibri" pitchFamily="34" charset="0"/>
                <a:ea typeface="Calibri" pitchFamily="34" charset="-122"/>
                <a:cs typeface="Calibri" pitchFamily="34" charset="-120"/>
              </a:rPr>
              <a:t>Tiny Capital's 2023 acquisition of a majority stake in Letterboxd</a:t>
            </a:r>
            <a:endParaRPr lang="en-US" sz="1250" dirty="0"/>
          </a:p>
        </p:txBody>
      </p:sp>
      <p:sp>
        <p:nvSpPr>
          <p:cNvPr id="6" name="Text 4"/>
          <p:cNvSpPr/>
          <p:nvPr/>
        </p:nvSpPr>
        <p:spPr>
          <a:xfrm>
            <a:off x="868680" y="3383280"/>
            <a:ext cx="3657600" cy="1280160"/>
          </a:xfrm>
          <a:prstGeom prst="rect">
            <a:avLst/>
          </a:prstGeom>
          <a:noFill/>
          <a:ln/>
        </p:spPr>
        <p:txBody>
          <a:bodyPr wrap="square" lIns="0" tIns="0" rIns="0" bIns="0" rtlCol="0" anchor="ctr"/>
          <a:lstStyle/>
          <a:p>
            <a:pPr algn="ctr" indent="0" marL="0">
              <a:buNone/>
            </a:pPr>
            <a:r>
              <a:rPr lang="en-US" sz="1200" i="1" dirty="0">
                <a:solidFill>
                  <a:srgbClr val="9AA1B4"/>
                </a:solidFill>
                <a:latin typeface="Calibri" pitchFamily="34" charset="0"/>
                <a:ea typeface="Calibri" pitchFamily="34" charset="-122"/>
                <a:cs typeface="Calibri" pitchFamily="34" charset="-120"/>
              </a:rPr>
              <a:t>...after 12 years of running profitably on subscriptions and ads alone — no outside funding needed to get there.</a:t>
            </a:r>
            <a:endParaRPr lang="en-US" sz="1200" dirty="0"/>
          </a:p>
        </p:txBody>
      </p:sp>
      <p:sp>
        <p:nvSpPr>
          <p:cNvPr id="7" name="Shape 5"/>
          <p:cNvSpPr/>
          <p:nvPr/>
        </p:nvSpPr>
        <p:spPr>
          <a:xfrm>
            <a:off x="5074920" y="1746504"/>
            <a:ext cx="182880" cy="182880"/>
          </a:xfrm>
          <a:prstGeom prst="ellipse">
            <a:avLst/>
          </a:prstGeom>
          <a:solidFill>
            <a:srgbClr val="E8564A"/>
          </a:solidFill>
          <a:ln/>
        </p:spPr>
      </p:sp>
      <p:sp>
        <p:nvSpPr>
          <p:cNvPr id="8" name="Text 6"/>
          <p:cNvSpPr/>
          <p:nvPr/>
        </p:nvSpPr>
        <p:spPr>
          <a:xfrm>
            <a:off x="5394960" y="1636776"/>
            <a:ext cx="6035040" cy="36576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No dominant player in gaming yet</a:t>
            </a:r>
            <a:endParaRPr lang="en-US" sz="1500" dirty="0"/>
          </a:p>
        </p:txBody>
      </p:sp>
      <p:sp>
        <p:nvSpPr>
          <p:cNvPr id="9" name="Text 7"/>
          <p:cNvSpPr/>
          <p:nvPr/>
        </p:nvSpPr>
        <p:spPr>
          <a:xfrm>
            <a:off x="5394960" y="1984248"/>
            <a:ext cx="6035040"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Backloggd, GG, SavePoint, Infinite Backlog — each nails a piece, none owns the category.</a:t>
            </a:r>
            <a:endParaRPr lang="en-US" sz="1250" dirty="0"/>
          </a:p>
        </p:txBody>
      </p:sp>
      <p:sp>
        <p:nvSpPr>
          <p:cNvPr id="10" name="Shape 8"/>
          <p:cNvSpPr/>
          <p:nvPr/>
        </p:nvSpPr>
        <p:spPr>
          <a:xfrm>
            <a:off x="5074920" y="2798064"/>
            <a:ext cx="182880" cy="182880"/>
          </a:xfrm>
          <a:prstGeom prst="ellipse">
            <a:avLst/>
          </a:prstGeom>
          <a:solidFill>
            <a:srgbClr val="2E56A6"/>
          </a:solidFill>
          <a:ln/>
        </p:spPr>
      </p:sp>
      <p:sp>
        <p:nvSpPr>
          <p:cNvPr id="11" name="Text 9"/>
          <p:cNvSpPr/>
          <p:nvPr/>
        </p:nvSpPr>
        <p:spPr>
          <a:xfrm>
            <a:off x="5394960" y="2688336"/>
            <a:ext cx="6035040" cy="36576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Games carry richer data than film</a:t>
            </a:r>
            <a:endParaRPr lang="en-US" sz="1500" dirty="0"/>
          </a:p>
        </p:txBody>
      </p:sp>
      <p:sp>
        <p:nvSpPr>
          <p:cNvPr id="12" name="Text 10"/>
          <p:cNvSpPr/>
          <p:nvPr/>
        </p:nvSpPr>
        <p:spPr>
          <a:xfrm>
            <a:off x="5394960" y="3035808"/>
            <a:ext cx="6035040"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Playtime, platform, completion, co-op — signal a movie tracker never has to touch.</a:t>
            </a:r>
            <a:endParaRPr lang="en-US" sz="1250" dirty="0"/>
          </a:p>
        </p:txBody>
      </p:sp>
      <p:sp>
        <p:nvSpPr>
          <p:cNvPr id="13" name="Shape 11"/>
          <p:cNvSpPr/>
          <p:nvPr/>
        </p:nvSpPr>
        <p:spPr>
          <a:xfrm>
            <a:off x="5074920" y="3849624"/>
            <a:ext cx="182880" cy="182880"/>
          </a:xfrm>
          <a:prstGeom prst="ellipse">
            <a:avLst/>
          </a:prstGeom>
          <a:solidFill>
            <a:srgbClr val="47AD6C"/>
          </a:solidFill>
          <a:ln/>
        </p:spPr>
      </p:sp>
      <p:sp>
        <p:nvSpPr>
          <p:cNvPr id="14" name="Text 12"/>
          <p:cNvSpPr/>
          <p:nvPr/>
        </p:nvSpPr>
        <p:spPr>
          <a:xfrm>
            <a:off x="5394960" y="3739896"/>
            <a:ext cx="6035040" cy="36576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A bootstrapped niche app can win</a:t>
            </a:r>
            <a:endParaRPr lang="en-US" sz="1500" dirty="0"/>
          </a:p>
        </p:txBody>
      </p:sp>
      <p:sp>
        <p:nvSpPr>
          <p:cNvPr id="15" name="Text 13"/>
          <p:cNvSpPr/>
          <p:nvPr/>
        </p:nvSpPr>
        <p:spPr>
          <a:xfrm>
            <a:off x="5394960" y="4087368"/>
            <a:ext cx="6035040"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Letterboxd needed passion and time, not venture capital, to become a real business.</a:t>
            </a:r>
            <a:endParaRPr lang="en-US" sz="1250" dirty="0"/>
          </a:p>
        </p:txBody>
      </p:sp>
      <p:sp>
        <p:nvSpPr>
          <p:cNvPr id="16" name="Text 14"/>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17" name="Shape 15"/>
          <p:cNvSpPr/>
          <p:nvPr/>
        </p:nvSpPr>
        <p:spPr>
          <a:xfrm>
            <a:off x="10765231" y="6437376"/>
            <a:ext cx="109728" cy="109728"/>
          </a:xfrm>
          <a:prstGeom prst="ellipse">
            <a:avLst/>
          </a:prstGeom>
          <a:solidFill>
            <a:srgbClr val="E8564A"/>
          </a:solidFill>
          <a:ln/>
        </p:spPr>
      </p:sp>
      <p:sp>
        <p:nvSpPr>
          <p:cNvPr id="18" name="Shape 16"/>
          <p:cNvSpPr/>
          <p:nvPr/>
        </p:nvSpPr>
        <p:spPr>
          <a:xfrm>
            <a:off x="10948111" y="6437376"/>
            <a:ext cx="109728" cy="109728"/>
          </a:xfrm>
          <a:prstGeom prst="ellipse">
            <a:avLst/>
          </a:prstGeom>
          <a:solidFill>
            <a:srgbClr val="2E56A6"/>
          </a:solidFill>
          <a:ln/>
        </p:spPr>
      </p:sp>
      <p:sp>
        <p:nvSpPr>
          <p:cNvPr id="19" name="Shape 17"/>
          <p:cNvSpPr/>
          <p:nvPr/>
        </p:nvSpPr>
        <p:spPr>
          <a:xfrm>
            <a:off x="11130991" y="6437376"/>
            <a:ext cx="109728" cy="109728"/>
          </a:xfrm>
          <a:prstGeom prst="ellipse">
            <a:avLst/>
          </a:prstGeom>
          <a:solidFill>
            <a:srgbClr val="47AD6C"/>
          </a:solidFill>
          <a:ln/>
        </p:spPr>
      </p:sp>
      <p:sp>
        <p:nvSpPr>
          <p:cNvPr id="20" name="Shape 18"/>
          <p:cNvSpPr/>
          <p:nvPr/>
        </p:nvSpPr>
        <p:spPr>
          <a:xfrm>
            <a:off x="11313871" y="6437376"/>
            <a:ext cx="109728" cy="109728"/>
          </a:xfrm>
          <a:prstGeom prst="ellipse">
            <a:avLst/>
          </a:prstGeom>
          <a:solidFill>
            <a:srgbClr val="F1BC33"/>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41C"/>
        </a:solidFill>
      </p:bgPr>
    </p:bg>
    <p:spTree>
      <p:nvGrpSpPr>
        <p:cNvPr id="1" name=""/>
        <p:cNvGrpSpPr/>
        <p:nvPr/>
      </p:nvGrpSpPr>
      <p:grpSpPr>
        <a:xfrm>
          <a:off x="0" y="0"/>
          <a:ext cx="0" cy="0"/>
          <a:chOff x="0" y="0"/>
          <a:chExt cx="0" cy="0"/>
        </a:xfrm>
      </p:grpSpPr>
      <p:pic>
        <p:nvPicPr>
          <p:cNvPr id="2" name="Image 0" descr="/home/claude/icon_transparent.png">    </p:cNvPr>
          <p:cNvPicPr>
            <a:picLocks noChangeAspect="1"/>
          </p:cNvPicPr>
          <p:nvPr/>
        </p:nvPicPr>
        <p:blipFill>
          <a:blip r:embed="rId1"/>
          <a:stretch>
            <a:fillRect/>
          </a:stretch>
        </p:blipFill>
        <p:spPr>
          <a:xfrm>
            <a:off x="640080" y="502920"/>
            <a:ext cx="548640" cy="550529"/>
          </a:xfrm>
          <a:prstGeom prst="rect">
            <a:avLst/>
          </a:prstGeom>
        </p:spPr>
      </p:pic>
      <p:sp>
        <p:nvSpPr>
          <p:cNvPr id="3" name="Text 0"/>
          <p:cNvSpPr/>
          <p:nvPr/>
        </p:nvSpPr>
        <p:spPr>
          <a:xfrm>
            <a:off x="1325880" y="457200"/>
            <a:ext cx="10271455" cy="731520"/>
          </a:xfrm>
          <a:prstGeom prst="rect">
            <a:avLst/>
          </a:prstGeom>
          <a:noFill/>
          <a:ln/>
        </p:spPr>
        <p:txBody>
          <a:bodyPr wrap="square" lIns="0" tIns="0" rIns="0" bIns="0" rtlCol="0" anchor="ctr"/>
          <a:lstStyle/>
          <a:p>
            <a:pPr indent="0" marL="0">
              <a:buNone/>
            </a:pPr>
            <a:r>
              <a:rPr lang="en-US" sz="3000" b="1" dirty="0">
                <a:solidFill>
                  <a:srgbClr val="F4F5F9"/>
                </a:solidFill>
                <a:latin typeface="Baloo 2" pitchFamily="34" charset="0"/>
                <a:ea typeface="Baloo 2" pitchFamily="34" charset="-122"/>
                <a:cs typeface="Baloo 2" pitchFamily="34" charset="-120"/>
              </a:rPr>
              <a:t>Introducing GameBasket</a:t>
            </a:r>
            <a:endParaRPr lang="en-US" sz="3000" dirty="0"/>
          </a:p>
        </p:txBody>
      </p:sp>
      <p:sp>
        <p:nvSpPr>
          <p:cNvPr id="4" name="Text 1"/>
          <p:cNvSpPr/>
          <p:nvPr/>
        </p:nvSpPr>
        <p:spPr>
          <a:xfrm>
            <a:off x="640080" y="1234440"/>
            <a:ext cx="10911535" cy="457200"/>
          </a:xfrm>
          <a:prstGeom prst="rect">
            <a:avLst/>
          </a:prstGeom>
          <a:noFill/>
          <a:ln/>
        </p:spPr>
        <p:txBody>
          <a:bodyPr wrap="square" lIns="0" tIns="0" rIns="0" bIns="0" rtlCol="0" anchor="ctr"/>
          <a:lstStyle/>
          <a:p>
            <a:pPr indent="0" marL="0">
              <a:buNone/>
            </a:pPr>
            <a:r>
              <a:rPr lang="en-US" sz="1500" i="1" dirty="0">
                <a:solidFill>
                  <a:srgbClr val="9AA1B4"/>
                </a:solidFill>
                <a:latin typeface="Calibri" pitchFamily="34" charset="0"/>
                <a:ea typeface="Calibri" pitchFamily="34" charset="-122"/>
                <a:cs typeface="Calibri" pitchFamily="34" charset="-120"/>
              </a:rPr>
              <a:t>Letterboxd, but for the basket of games you actually grew up with.</a:t>
            </a:r>
            <a:endParaRPr lang="en-US" sz="1500" dirty="0"/>
          </a:p>
        </p:txBody>
      </p:sp>
      <p:sp>
        <p:nvSpPr>
          <p:cNvPr id="5" name="Shape 2"/>
          <p:cNvSpPr/>
          <p:nvPr/>
        </p:nvSpPr>
        <p:spPr>
          <a:xfrm>
            <a:off x="640080" y="1965960"/>
            <a:ext cx="5212080" cy="2148840"/>
          </a:xfrm>
          <a:prstGeom prst="roundRect">
            <a:avLst>
              <a:gd name="adj" fmla="val 5957"/>
            </a:avLst>
          </a:prstGeom>
          <a:solidFill>
            <a:srgbClr val="1A1D29"/>
          </a:solidFill>
          <a:ln/>
        </p:spPr>
      </p:sp>
      <p:sp>
        <p:nvSpPr>
          <p:cNvPr id="6" name="Shape 3"/>
          <p:cNvSpPr/>
          <p:nvPr/>
        </p:nvSpPr>
        <p:spPr>
          <a:xfrm>
            <a:off x="914400" y="2240280"/>
            <a:ext cx="237744" cy="237744"/>
          </a:xfrm>
          <a:prstGeom prst="ellipse">
            <a:avLst/>
          </a:prstGeom>
          <a:solidFill>
            <a:srgbClr val="E8564A"/>
          </a:solidFill>
          <a:ln/>
        </p:spPr>
      </p:sp>
      <p:sp>
        <p:nvSpPr>
          <p:cNvPr id="7" name="Text 4"/>
          <p:cNvSpPr/>
          <p:nvPr/>
        </p:nvSpPr>
        <p:spPr>
          <a:xfrm>
            <a:off x="1325880" y="2167128"/>
            <a:ext cx="4251960" cy="365760"/>
          </a:xfrm>
          <a:prstGeom prst="rect">
            <a:avLst/>
          </a:prstGeom>
          <a:noFill/>
          <a:ln/>
        </p:spPr>
        <p:txBody>
          <a:bodyPr wrap="square" lIns="0" tIns="0" rIns="0" bIns="0" rtlCol="0" anchor="ctr"/>
          <a:lstStyle/>
          <a:p>
            <a:pPr indent="0" marL="0">
              <a:buNone/>
            </a:pPr>
            <a:r>
              <a:rPr lang="en-US" sz="1550" b="1" dirty="0">
                <a:solidFill>
                  <a:srgbClr val="F4F5F9"/>
                </a:solidFill>
                <a:latin typeface="Baloo 2" pitchFamily="34" charset="0"/>
                <a:ea typeface="Baloo 2" pitchFamily="34" charset="-122"/>
                <a:cs typeface="Baloo 2" pitchFamily="34" charset="-120"/>
              </a:rPr>
              <a:t>Status-first home</a:t>
            </a:r>
            <a:endParaRPr lang="en-US" sz="1550" dirty="0"/>
          </a:p>
        </p:txBody>
      </p:sp>
      <p:sp>
        <p:nvSpPr>
          <p:cNvPr id="8" name="Text 5"/>
          <p:cNvSpPr/>
          <p:nvPr/>
        </p:nvSpPr>
        <p:spPr>
          <a:xfrm>
            <a:off x="914400" y="2743200"/>
            <a:ext cx="4663440" cy="123444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Playing, Backlogged, Wishlist, Completed — the lens that actually matters for a game library, not a one-time diary entry.</a:t>
            </a:r>
            <a:endParaRPr lang="en-US" sz="1250" dirty="0"/>
          </a:p>
        </p:txBody>
      </p:sp>
      <p:sp>
        <p:nvSpPr>
          <p:cNvPr id="9" name="Shape 6"/>
          <p:cNvSpPr/>
          <p:nvPr/>
        </p:nvSpPr>
        <p:spPr>
          <a:xfrm>
            <a:off x="6172200" y="1965960"/>
            <a:ext cx="5212080" cy="2148840"/>
          </a:xfrm>
          <a:prstGeom prst="roundRect">
            <a:avLst>
              <a:gd name="adj" fmla="val 5957"/>
            </a:avLst>
          </a:prstGeom>
          <a:solidFill>
            <a:srgbClr val="1A1D29"/>
          </a:solidFill>
          <a:ln/>
        </p:spPr>
      </p:sp>
      <p:sp>
        <p:nvSpPr>
          <p:cNvPr id="10" name="Shape 7"/>
          <p:cNvSpPr/>
          <p:nvPr/>
        </p:nvSpPr>
        <p:spPr>
          <a:xfrm>
            <a:off x="6446520" y="2240280"/>
            <a:ext cx="237744" cy="237744"/>
          </a:xfrm>
          <a:prstGeom prst="ellipse">
            <a:avLst/>
          </a:prstGeom>
          <a:solidFill>
            <a:srgbClr val="2E56A6"/>
          </a:solidFill>
          <a:ln/>
        </p:spPr>
      </p:sp>
      <p:sp>
        <p:nvSpPr>
          <p:cNvPr id="11" name="Text 8"/>
          <p:cNvSpPr/>
          <p:nvPr/>
        </p:nvSpPr>
        <p:spPr>
          <a:xfrm>
            <a:off x="6858000" y="2167128"/>
            <a:ext cx="4251960" cy="365760"/>
          </a:xfrm>
          <a:prstGeom prst="rect">
            <a:avLst/>
          </a:prstGeom>
          <a:noFill/>
          <a:ln/>
        </p:spPr>
        <p:txBody>
          <a:bodyPr wrap="square" lIns="0" tIns="0" rIns="0" bIns="0" rtlCol="0" anchor="ctr"/>
          <a:lstStyle/>
          <a:p>
            <a:pPr indent="0" marL="0">
              <a:buNone/>
            </a:pPr>
            <a:r>
              <a:rPr lang="en-US" sz="1550" b="1" dirty="0">
                <a:solidFill>
                  <a:srgbClr val="F4F5F9"/>
                </a:solidFill>
                <a:latin typeface="Baloo 2" pitchFamily="34" charset="0"/>
                <a:ea typeface="Baloo 2" pitchFamily="34" charset="-122"/>
                <a:cs typeface="Baloo 2" pitchFamily="34" charset="-120"/>
              </a:rPr>
              <a:t>Playtime as a first-class stat</a:t>
            </a:r>
            <a:endParaRPr lang="en-US" sz="1550" dirty="0"/>
          </a:p>
        </p:txBody>
      </p:sp>
      <p:sp>
        <p:nvSpPr>
          <p:cNvPr id="12" name="Text 9"/>
          <p:cNvSpPr/>
          <p:nvPr/>
        </p:nvSpPr>
        <p:spPr>
          <a:xfrm>
            <a:off x="6446520" y="2743200"/>
            <a:ext cx="4663440" cy="123444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Games range from 3 hours to 3,000. Hours played sits front and center, not buried in a stats tab.</a:t>
            </a:r>
            <a:endParaRPr lang="en-US" sz="1250" dirty="0"/>
          </a:p>
        </p:txBody>
      </p:sp>
      <p:sp>
        <p:nvSpPr>
          <p:cNvPr id="13" name="Shape 10"/>
          <p:cNvSpPr/>
          <p:nvPr/>
        </p:nvSpPr>
        <p:spPr>
          <a:xfrm>
            <a:off x="640080" y="4434840"/>
            <a:ext cx="5212080" cy="2148840"/>
          </a:xfrm>
          <a:prstGeom prst="roundRect">
            <a:avLst>
              <a:gd name="adj" fmla="val 5957"/>
            </a:avLst>
          </a:prstGeom>
          <a:solidFill>
            <a:srgbClr val="1A1D29"/>
          </a:solidFill>
          <a:ln/>
        </p:spPr>
      </p:sp>
      <p:sp>
        <p:nvSpPr>
          <p:cNvPr id="14" name="Shape 11"/>
          <p:cNvSpPr/>
          <p:nvPr/>
        </p:nvSpPr>
        <p:spPr>
          <a:xfrm>
            <a:off x="914400" y="4709160"/>
            <a:ext cx="237744" cy="237744"/>
          </a:xfrm>
          <a:prstGeom prst="ellipse">
            <a:avLst/>
          </a:prstGeom>
          <a:solidFill>
            <a:srgbClr val="47AD6C"/>
          </a:solidFill>
          <a:ln/>
        </p:spPr>
      </p:sp>
      <p:sp>
        <p:nvSpPr>
          <p:cNvPr id="15" name="Text 12"/>
          <p:cNvSpPr/>
          <p:nvPr/>
        </p:nvSpPr>
        <p:spPr>
          <a:xfrm>
            <a:off x="1325880" y="4636008"/>
            <a:ext cx="4251960" cy="365760"/>
          </a:xfrm>
          <a:prstGeom prst="rect">
            <a:avLst/>
          </a:prstGeom>
          <a:noFill/>
          <a:ln/>
        </p:spPr>
        <p:txBody>
          <a:bodyPr wrap="square" lIns="0" tIns="0" rIns="0" bIns="0" rtlCol="0" anchor="ctr"/>
          <a:lstStyle/>
          <a:p>
            <a:pPr indent="0" marL="0">
              <a:buNone/>
            </a:pPr>
            <a:r>
              <a:rPr lang="en-US" sz="1550" b="1" dirty="0">
                <a:solidFill>
                  <a:srgbClr val="F4F5F9"/>
                </a:solidFill>
                <a:latin typeface="Baloo 2" pitchFamily="34" charset="0"/>
                <a:ea typeface="Baloo 2" pitchFamily="34" charset="-122"/>
                <a:cs typeface="Baloo 2" pitchFamily="34" charset="-120"/>
              </a:rPr>
              <a:t>Sessions, not single entries</a:t>
            </a:r>
            <a:endParaRPr lang="en-US" sz="1550" dirty="0"/>
          </a:p>
        </p:txBody>
      </p:sp>
      <p:sp>
        <p:nvSpPr>
          <p:cNvPr id="16" name="Text 13"/>
          <p:cNvSpPr/>
          <p:nvPr/>
        </p:nvSpPr>
        <p:spPr>
          <a:xfrm>
            <a:off x="914400" y="5212080"/>
            <a:ext cx="4663440" cy="123444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Log every sitting across weeks or months — games aren't watched once and done.</a:t>
            </a:r>
            <a:endParaRPr lang="en-US" sz="1250" dirty="0"/>
          </a:p>
        </p:txBody>
      </p:sp>
      <p:sp>
        <p:nvSpPr>
          <p:cNvPr id="17" name="Shape 14"/>
          <p:cNvSpPr/>
          <p:nvPr/>
        </p:nvSpPr>
        <p:spPr>
          <a:xfrm>
            <a:off x="6172200" y="4434840"/>
            <a:ext cx="5212080" cy="2148840"/>
          </a:xfrm>
          <a:prstGeom prst="roundRect">
            <a:avLst>
              <a:gd name="adj" fmla="val 5957"/>
            </a:avLst>
          </a:prstGeom>
          <a:solidFill>
            <a:srgbClr val="1A1D29"/>
          </a:solidFill>
          <a:ln/>
        </p:spPr>
      </p:sp>
      <p:sp>
        <p:nvSpPr>
          <p:cNvPr id="18" name="Shape 15"/>
          <p:cNvSpPr/>
          <p:nvPr/>
        </p:nvSpPr>
        <p:spPr>
          <a:xfrm>
            <a:off x="6446520" y="4709160"/>
            <a:ext cx="237744" cy="237744"/>
          </a:xfrm>
          <a:prstGeom prst="ellipse">
            <a:avLst/>
          </a:prstGeom>
          <a:solidFill>
            <a:srgbClr val="F1BC33"/>
          </a:solidFill>
          <a:ln/>
        </p:spPr>
      </p:sp>
      <p:sp>
        <p:nvSpPr>
          <p:cNvPr id="19" name="Text 16"/>
          <p:cNvSpPr/>
          <p:nvPr/>
        </p:nvSpPr>
        <p:spPr>
          <a:xfrm>
            <a:off x="6858000" y="4636008"/>
            <a:ext cx="4251960" cy="365760"/>
          </a:xfrm>
          <a:prstGeom prst="rect">
            <a:avLst/>
          </a:prstGeom>
          <a:noFill/>
          <a:ln/>
        </p:spPr>
        <p:txBody>
          <a:bodyPr wrap="square" lIns="0" tIns="0" rIns="0" bIns="0" rtlCol="0" anchor="ctr"/>
          <a:lstStyle/>
          <a:p>
            <a:pPr indent="0" marL="0">
              <a:buNone/>
            </a:pPr>
            <a:r>
              <a:rPr lang="en-US" sz="1550" b="1" dirty="0">
                <a:solidFill>
                  <a:srgbClr val="F4F5F9"/>
                </a:solidFill>
                <a:latin typeface="Baloo 2" pitchFamily="34" charset="0"/>
                <a:ea typeface="Baloo 2" pitchFamily="34" charset="-122"/>
                <a:cs typeface="Baloo 2" pitchFamily="34" charset="-120"/>
              </a:rPr>
              <a:t>“Played With” tagging</a:t>
            </a:r>
            <a:endParaRPr lang="en-US" sz="1550" dirty="0"/>
          </a:p>
        </p:txBody>
      </p:sp>
      <p:sp>
        <p:nvSpPr>
          <p:cNvPr id="20" name="Text 17"/>
          <p:cNvSpPr/>
          <p:nvPr/>
        </p:nvSpPr>
        <p:spPr>
          <a:xfrm>
            <a:off x="6446520" y="5212080"/>
            <a:ext cx="4663440" cy="123444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Tag real co-op partners on a game or a review — something film tracking has no reason to need.</a:t>
            </a:r>
            <a:endParaRPr lang="en-US" sz="1250" dirty="0"/>
          </a:p>
        </p:txBody>
      </p:sp>
      <p:sp>
        <p:nvSpPr>
          <p:cNvPr id="21" name="Text 18"/>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22" name="Shape 19"/>
          <p:cNvSpPr/>
          <p:nvPr/>
        </p:nvSpPr>
        <p:spPr>
          <a:xfrm>
            <a:off x="10765231" y="6437376"/>
            <a:ext cx="109728" cy="109728"/>
          </a:xfrm>
          <a:prstGeom prst="ellipse">
            <a:avLst/>
          </a:prstGeom>
          <a:solidFill>
            <a:srgbClr val="E8564A"/>
          </a:solidFill>
          <a:ln/>
        </p:spPr>
      </p:sp>
      <p:sp>
        <p:nvSpPr>
          <p:cNvPr id="23" name="Shape 20"/>
          <p:cNvSpPr/>
          <p:nvPr/>
        </p:nvSpPr>
        <p:spPr>
          <a:xfrm>
            <a:off x="10948111" y="6437376"/>
            <a:ext cx="109728" cy="109728"/>
          </a:xfrm>
          <a:prstGeom prst="ellipse">
            <a:avLst/>
          </a:prstGeom>
          <a:solidFill>
            <a:srgbClr val="2E56A6"/>
          </a:solidFill>
          <a:ln/>
        </p:spPr>
      </p:sp>
      <p:sp>
        <p:nvSpPr>
          <p:cNvPr id="24" name="Shape 21"/>
          <p:cNvSpPr/>
          <p:nvPr/>
        </p:nvSpPr>
        <p:spPr>
          <a:xfrm>
            <a:off x="11130991" y="6437376"/>
            <a:ext cx="109728" cy="109728"/>
          </a:xfrm>
          <a:prstGeom prst="ellipse">
            <a:avLst/>
          </a:prstGeom>
          <a:solidFill>
            <a:srgbClr val="47AD6C"/>
          </a:solidFill>
          <a:ln/>
        </p:spPr>
      </p:sp>
      <p:sp>
        <p:nvSpPr>
          <p:cNvPr id="25" name="Shape 22"/>
          <p:cNvSpPr/>
          <p:nvPr/>
        </p:nvSpPr>
        <p:spPr>
          <a:xfrm>
            <a:off x="11313871" y="6437376"/>
            <a:ext cx="109728" cy="109728"/>
          </a:xfrm>
          <a:prstGeom prst="ellipse">
            <a:avLst/>
          </a:prstGeom>
          <a:solidFill>
            <a:srgbClr val="F1BC33"/>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What it looks like today (working prototype)</a:t>
            </a:r>
            <a:endParaRPr lang="en-US" sz="3200" dirty="0"/>
          </a:p>
        </p:txBody>
      </p:sp>
      <p:pic>
        <p:nvPicPr>
          <p:cNvPr id="3" name="Image 0" descr="/home/claude/crop_home_feed.png">    </p:cNvPr>
          <p:cNvPicPr>
            <a:picLocks noChangeAspect="1"/>
          </p:cNvPicPr>
          <p:nvPr/>
        </p:nvPicPr>
        <p:blipFill>
          <a:blip r:embed="rId1"/>
          <a:stretch>
            <a:fillRect/>
          </a:stretch>
        </p:blipFill>
        <p:spPr>
          <a:xfrm>
            <a:off x="2253408" y="1417320"/>
            <a:ext cx="2287306" cy="4709160"/>
          </a:xfrm>
          <a:prstGeom prst="rect">
            <a:avLst/>
          </a:prstGeom>
        </p:spPr>
      </p:pic>
      <p:sp>
        <p:nvSpPr>
          <p:cNvPr id="4" name="Text 1"/>
          <p:cNvSpPr/>
          <p:nvPr/>
        </p:nvSpPr>
        <p:spPr>
          <a:xfrm>
            <a:off x="2253408" y="6199632"/>
            <a:ext cx="2287306" cy="320040"/>
          </a:xfrm>
          <a:prstGeom prst="rect">
            <a:avLst/>
          </a:prstGeom>
          <a:noFill/>
          <a:ln/>
        </p:spPr>
        <p:txBody>
          <a:bodyPr wrap="square" lIns="0" tIns="0" rIns="0" bIns="0" rtlCol="0" anchor="ctr"/>
          <a:lstStyle/>
          <a:p>
            <a:pPr algn="ctr" indent="0" marL="0">
              <a:buNone/>
            </a:pPr>
            <a:r>
              <a:rPr lang="en-US" sz="1300" b="1" dirty="0">
                <a:solidFill>
                  <a:srgbClr val="9AA1B4"/>
                </a:solidFill>
                <a:latin typeface="Baloo 2" pitchFamily="34" charset="0"/>
                <a:ea typeface="Baloo 2" pitchFamily="34" charset="-122"/>
                <a:cs typeface="Baloo 2" pitchFamily="34" charset="-120"/>
              </a:rPr>
              <a:t>Home Feed</a:t>
            </a:r>
            <a:endParaRPr lang="en-US" sz="1300" dirty="0"/>
          </a:p>
        </p:txBody>
      </p:sp>
      <p:pic>
        <p:nvPicPr>
          <p:cNvPr id="5" name="Image 1" descr="/home/claude/crop_game_detail.png">    </p:cNvPr>
          <p:cNvPicPr>
            <a:picLocks noChangeAspect="1"/>
          </p:cNvPicPr>
          <p:nvPr/>
        </p:nvPicPr>
        <p:blipFill>
          <a:blip r:embed="rId2"/>
          <a:stretch>
            <a:fillRect/>
          </a:stretch>
        </p:blipFill>
        <p:spPr>
          <a:xfrm>
            <a:off x="4952194" y="1417320"/>
            <a:ext cx="2287306" cy="4709160"/>
          </a:xfrm>
          <a:prstGeom prst="rect">
            <a:avLst/>
          </a:prstGeom>
        </p:spPr>
      </p:pic>
      <p:sp>
        <p:nvSpPr>
          <p:cNvPr id="6" name="Text 2"/>
          <p:cNvSpPr/>
          <p:nvPr/>
        </p:nvSpPr>
        <p:spPr>
          <a:xfrm>
            <a:off x="4952194" y="6199632"/>
            <a:ext cx="2287306" cy="320040"/>
          </a:xfrm>
          <a:prstGeom prst="rect">
            <a:avLst/>
          </a:prstGeom>
          <a:noFill/>
          <a:ln/>
        </p:spPr>
        <p:txBody>
          <a:bodyPr wrap="square" lIns="0" tIns="0" rIns="0" bIns="0" rtlCol="0" anchor="ctr"/>
          <a:lstStyle/>
          <a:p>
            <a:pPr algn="ctr" indent="0" marL="0">
              <a:buNone/>
            </a:pPr>
            <a:r>
              <a:rPr lang="en-US" sz="1300" b="1" dirty="0">
                <a:solidFill>
                  <a:srgbClr val="9AA1B4"/>
                </a:solidFill>
                <a:latin typeface="Baloo 2" pitchFamily="34" charset="0"/>
                <a:ea typeface="Baloo 2" pitchFamily="34" charset="-122"/>
                <a:cs typeface="Baloo 2" pitchFamily="34" charset="-120"/>
              </a:rPr>
              <a:t>Game Page</a:t>
            </a:r>
            <a:endParaRPr lang="en-US" sz="1300" dirty="0"/>
          </a:p>
        </p:txBody>
      </p:sp>
      <p:pic>
        <p:nvPicPr>
          <p:cNvPr id="7" name="Image 2" descr="/home/claude/crop_review.png">    </p:cNvPr>
          <p:cNvPicPr>
            <a:picLocks noChangeAspect="1"/>
          </p:cNvPicPr>
          <p:nvPr/>
        </p:nvPicPr>
        <p:blipFill>
          <a:blip r:embed="rId3"/>
          <a:stretch>
            <a:fillRect/>
          </a:stretch>
        </p:blipFill>
        <p:spPr>
          <a:xfrm>
            <a:off x="7650981" y="1417320"/>
            <a:ext cx="2287306" cy="4709160"/>
          </a:xfrm>
          <a:prstGeom prst="rect">
            <a:avLst/>
          </a:prstGeom>
        </p:spPr>
      </p:pic>
      <p:sp>
        <p:nvSpPr>
          <p:cNvPr id="8" name="Text 3"/>
          <p:cNvSpPr/>
          <p:nvPr/>
        </p:nvSpPr>
        <p:spPr>
          <a:xfrm>
            <a:off x="7650981" y="6199632"/>
            <a:ext cx="2287306" cy="320040"/>
          </a:xfrm>
          <a:prstGeom prst="rect">
            <a:avLst/>
          </a:prstGeom>
          <a:noFill/>
          <a:ln/>
        </p:spPr>
        <p:txBody>
          <a:bodyPr wrap="square" lIns="0" tIns="0" rIns="0" bIns="0" rtlCol="0" anchor="ctr"/>
          <a:lstStyle/>
          <a:p>
            <a:pPr algn="ctr" indent="0" marL="0">
              <a:buNone/>
            </a:pPr>
            <a:r>
              <a:rPr lang="en-US" sz="1300" b="1" dirty="0">
                <a:solidFill>
                  <a:srgbClr val="9AA1B4"/>
                </a:solidFill>
                <a:latin typeface="Baloo 2" pitchFamily="34" charset="0"/>
                <a:ea typeface="Baloo 2" pitchFamily="34" charset="-122"/>
                <a:cs typeface="Baloo 2" pitchFamily="34" charset="-120"/>
              </a:rPr>
              <a:t>Review</a:t>
            </a:r>
            <a:endParaRPr lang="en-US" sz="1300" dirty="0"/>
          </a:p>
        </p:txBody>
      </p:sp>
      <p:sp>
        <p:nvSpPr>
          <p:cNvPr id="9" name="Text 4"/>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10" name="Shape 5"/>
          <p:cNvSpPr/>
          <p:nvPr/>
        </p:nvSpPr>
        <p:spPr>
          <a:xfrm>
            <a:off x="10765231" y="6437376"/>
            <a:ext cx="109728" cy="109728"/>
          </a:xfrm>
          <a:prstGeom prst="ellipse">
            <a:avLst/>
          </a:prstGeom>
          <a:solidFill>
            <a:srgbClr val="E8564A"/>
          </a:solidFill>
          <a:ln/>
        </p:spPr>
      </p:sp>
      <p:sp>
        <p:nvSpPr>
          <p:cNvPr id="11" name="Shape 6"/>
          <p:cNvSpPr/>
          <p:nvPr/>
        </p:nvSpPr>
        <p:spPr>
          <a:xfrm>
            <a:off x="10948111" y="6437376"/>
            <a:ext cx="109728" cy="109728"/>
          </a:xfrm>
          <a:prstGeom prst="ellipse">
            <a:avLst/>
          </a:prstGeom>
          <a:solidFill>
            <a:srgbClr val="2E56A6"/>
          </a:solidFill>
          <a:ln/>
        </p:spPr>
      </p:sp>
      <p:sp>
        <p:nvSpPr>
          <p:cNvPr id="12" name="Shape 7"/>
          <p:cNvSpPr/>
          <p:nvPr/>
        </p:nvSpPr>
        <p:spPr>
          <a:xfrm>
            <a:off x="11130991" y="6437376"/>
            <a:ext cx="109728" cy="109728"/>
          </a:xfrm>
          <a:prstGeom prst="ellipse">
            <a:avLst/>
          </a:prstGeom>
          <a:solidFill>
            <a:srgbClr val="47AD6C"/>
          </a:solidFill>
          <a:ln/>
        </p:spPr>
      </p:sp>
      <p:sp>
        <p:nvSpPr>
          <p:cNvPr id="13" name="Shape 8"/>
          <p:cNvSpPr/>
          <p:nvPr/>
        </p:nvSpPr>
        <p:spPr>
          <a:xfrm>
            <a:off x="11313871" y="6437376"/>
            <a:ext cx="109728" cy="109728"/>
          </a:xfrm>
          <a:prstGeom prst="ellipse">
            <a:avLst/>
          </a:prstGeom>
          <a:solidFill>
            <a:srgbClr val="F1BC33"/>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Hearts, not stars. Played With, not just watched.</a:t>
            </a:r>
            <a:endParaRPr lang="en-US" sz="3200" dirty="0"/>
          </a:p>
        </p:txBody>
      </p:sp>
      <p:pic>
        <p:nvPicPr>
          <p:cNvPr id="3" name="Image 0" descr="/home/claude/crop_game_detail.png">    </p:cNvPr>
          <p:cNvPicPr>
            <a:picLocks noChangeAspect="1"/>
          </p:cNvPicPr>
          <p:nvPr/>
        </p:nvPicPr>
        <p:blipFill>
          <a:blip r:embed="rId1"/>
          <a:stretch>
            <a:fillRect/>
          </a:stretch>
        </p:blipFill>
        <p:spPr>
          <a:xfrm>
            <a:off x="822960" y="1417320"/>
            <a:ext cx="2376134" cy="4892040"/>
          </a:xfrm>
          <a:prstGeom prst="rect">
            <a:avLst/>
          </a:prstGeom>
        </p:spPr>
      </p:pic>
      <p:sp>
        <p:nvSpPr>
          <p:cNvPr id="4" name="Shape 1"/>
          <p:cNvSpPr/>
          <p:nvPr/>
        </p:nvSpPr>
        <p:spPr>
          <a:xfrm>
            <a:off x="3702014" y="1609344"/>
            <a:ext cx="182880" cy="182880"/>
          </a:xfrm>
          <a:prstGeom prst="ellipse">
            <a:avLst/>
          </a:prstGeom>
          <a:solidFill>
            <a:srgbClr val="EB5757"/>
          </a:solidFill>
          <a:ln/>
        </p:spPr>
      </p:sp>
      <p:sp>
        <p:nvSpPr>
          <p:cNvPr id="5" name="Text 2"/>
          <p:cNvSpPr/>
          <p:nvPr/>
        </p:nvSpPr>
        <p:spPr>
          <a:xfrm>
            <a:off x="4022054" y="1499616"/>
            <a:ext cx="7529561" cy="50292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Pixel hearts replace stars</a:t>
            </a:r>
            <a:endParaRPr lang="en-US" sz="1500" dirty="0"/>
          </a:p>
        </p:txBody>
      </p:sp>
      <p:sp>
        <p:nvSpPr>
          <p:cNvPr id="6" name="Text 3"/>
          <p:cNvSpPr/>
          <p:nvPr/>
        </p:nvSpPr>
        <p:spPr>
          <a:xfrm>
            <a:off x="4022054" y="1993392"/>
            <a:ext cx="7529561" cy="105156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A classic 8-bit heart — health, lives — reads instantly as “gaming,” and never gets mistaken for a price tag the way coins did in an earlier pass.</a:t>
            </a:r>
            <a:endParaRPr lang="en-US" sz="1250" dirty="0"/>
          </a:p>
        </p:txBody>
      </p:sp>
      <p:sp>
        <p:nvSpPr>
          <p:cNvPr id="7" name="Shape 4"/>
          <p:cNvSpPr/>
          <p:nvPr/>
        </p:nvSpPr>
        <p:spPr>
          <a:xfrm>
            <a:off x="3702014" y="3163824"/>
            <a:ext cx="182880" cy="182880"/>
          </a:xfrm>
          <a:prstGeom prst="ellipse">
            <a:avLst/>
          </a:prstGeom>
          <a:solidFill>
            <a:srgbClr val="47AD6C"/>
          </a:solidFill>
          <a:ln/>
        </p:spPr>
      </p:sp>
      <p:sp>
        <p:nvSpPr>
          <p:cNvPr id="8" name="Text 5"/>
          <p:cNvSpPr/>
          <p:nvPr/>
        </p:nvSpPr>
        <p:spPr>
          <a:xfrm>
            <a:off x="4022054" y="3054096"/>
            <a:ext cx="7529561" cy="50292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“Played With” on every game &amp; review</a:t>
            </a:r>
            <a:endParaRPr lang="en-US" sz="1500" dirty="0"/>
          </a:p>
        </p:txBody>
      </p:sp>
      <p:sp>
        <p:nvSpPr>
          <p:cNvPr id="9" name="Text 6"/>
          <p:cNvSpPr/>
          <p:nvPr/>
        </p:nvSpPr>
        <p:spPr>
          <a:xfrm>
            <a:off x="4022054" y="3547872"/>
            <a:ext cx="7529561" cy="105156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Tag the friends you actually played alongside — co-op partners, not just people who also left a review. Letterboxd has no equivalent, because films aren't played together.</a:t>
            </a:r>
            <a:endParaRPr lang="en-US" sz="1250" dirty="0"/>
          </a:p>
        </p:txBody>
      </p:sp>
      <p:sp>
        <p:nvSpPr>
          <p:cNvPr id="10" name="Shape 7"/>
          <p:cNvSpPr/>
          <p:nvPr/>
        </p:nvSpPr>
        <p:spPr>
          <a:xfrm>
            <a:off x="3702014" y="4718304"/>
            <a:ext cx="182880" cy="182880"/>
          </a:xfrm>
          <a:prstGeom prst="ellipse">
            <a:avLst/>
          </a:prstGeom>
          <a:solidFill>
            <a:srgbClr val="2E56A6"/>
          </a:solidFill>
          <a:ln/>
        </p:spPr>
      </p:sp>
      <p:sp>
        <p:nvSpPr>
          <p:cNvPr id="11" name="Text 8"/>
          <p:cNvSpPr/>
          <p:nvPr/>
        </p:nvSpPr>
        <p:spPr>
          <a:xfrm>
            <a:off x="4022054" y="4608576"/>
            <a:ext cx="7529561" cy="502920"/>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Your rating vs. the community's</a:t>
            </a:r>
            <a:endParaRPr lang="en-US" sz="1500" dirty="0"/>
          </a:p>
        </p:txBody>
      </p:sp>
      <p:sp>
        <p:nvSpPr>
          <p:cNvPr id="12" name="Text 9"/>
          <p:cNvSpPr/>
          <p:nvPr/>
        </p:nvSpPr>
        <p:spPr>
          <a:xfrm>
            <a:off x="4022054" y="5102352"/>
            <a:ext cx="7529561" cy="105156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A personal heart rating sits right next to the community average and its distribution — at a glance, not a tap away.</a:t>
            </a:r>
            <a:endParaRPr lang="en-US" sz="1250" dirty="0"/>
          </a:p>
        </p:txBody>
      </p:sp>
      <p:sp>
        <p:nvSpPr>
          <p:cNvPr id="13" name="Text 10"/>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14" name="Shape 11"/>
          <p:cNvSpPr/>
          <p:nvPr/>
        </p:nvSpPr>
        <p:spPr>
          <a:xfrm>
            <a:off x="10765231" y="6437376"/>
            <a:ext cx="109728" cy="109728"/>
          </a:xfrm>
          <a:prstGeom prst="ellipse">
            <a:avLst/>
          </a:prstGeom>
          <a:solidFill>
            <a:srgbClr val="E8564A"/>
          </a:solidFill>
          <a:ln/>
        </p:spPr>
      </p:sp>
      <p:sp>
        <p:nvSpPr>
          <p:cNvPr id="15" name="Shape 12"/>
          <p:cNvSpPr/>
          <p:nvPr/>
        </p:nvSpPr>
        <p:spPr>
          <a:xfrm>
            <a:off x="10948111" y="6437376"/>
            <a:ext cx="109728" cy="109728"/>
          </a:xfrm>
          <a:prstGeom prst="ellipse">
            <a:avLst/>
          </a:prstGeom>
          <a:solidFill>
            <a:srgbClr val="2E56A6"/>
          </a:solidFill>
          <a:ln/>
        </p:spPr>
      </p:sp>
      <p:sp>
        <p:nvSpPr>
          <p:cNvPr id="16" name="Shape 13"/>
          <p:cNvSpPr/>
          <p:nvPr/>
        </p:nvSpPr>
        <p:spPr>
          <a:xfrm>
            <a:off x="11130991" y="6437376"/>
            <a:ext cx="109728" cy="109728"/>
          </a:xfrm>
          <a:prstGeom prst="ellipse">
            <a:avLst/>
          </a:prstGeom>
          <a:solidFill>
            <a:srgbClr val="47AD6C"/>
          </a:solidFill>
          <a:ln/>
        </p:spPr>
      </p:sp>
      <p:sp>
        <p:nvSpPr>
          <p:cNvPr id="17" name="Shape 14"/>
          <p:cNvSpPr/>
          <p:nvPr/>
        </p:nvSpPr>
        <p:spPr>
          <a:xfrm>
            <a:off x="11313871" y="6437376"/>
            <a:ext cx="109728" cy="109728"/>
          </a:xfrm>
          <a:prstGeom prst="ellipse">
            <a:avLst/>
          </a:prstGeom>
          <a:solidFill>
            <a:srgbClr val="F1BC33"/>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Structurally different, not just re-skinned</a:t>
            </a:r>
            <a:endParaRPr lang="en-US" sz="3200" dirty="0"/>
          </a:p>
        </p:txBody>
      </p:sp>
      <p:sp>
        <p:nvSpPr>
          <p:cNvPr id="3" name="Text 1"/>
          <p:cNvSpPr/>
          <p:nvPr/>
        </p:nvSpPr>
        <p:spPr>
          <a:xfrm>
            <a:off x="777240" y="1627632"/>
            <a:ext cx="2103120" cy="566928"/>
          </a:xfrm>
          <a:prstGeom prst="rect">
            <a:avLst/>
          </a:prstGeom>
          <a:noFill/>
          <a:ln/>
        </p:spPr>
        <p:txBody>
          <a:bodyPr wrap="square" lIns="0" tIns="0" rIns="0" bIns="0" rtlCol="0" anchor="ctr"/>
          <a:lstStyle/>
          <a:p>
            <a:pPr indent="0" marL="0">
              <a:buNone/>
            </a:pPr>
            <a:endParaRPr lang="en-US" sz="1500" dirty="0"/>
          </a:p>
        </p:txBody>
      </p:sp>
      <p:sp>
        <p:nvSpPr>
          <p:cNvPr id="4" name="Text 2"/>
          <p:cNvSpPr/>
          <p:nvPr/>
        </p:nvSpPr>
        <p:spPr>
          <a:xfrm>
            <a:off x="3154680" y="1627632"/>
            <a:ext cx="4206240" cy="566928"/>
          </a:xfrm>
          <a:prstGeom prst="rect">
            <a:avLst/>
          </a:prstGeom>
          <a:noFill/>
          <a:ln/>
        </p:spPr>
        <p:txBody>
          <a:bodyPr wrap="square" lIns="0" tIns="0" rIns="0" bIns="0" rtlCol="0" anchor="ctr"/>
          <a:lstStyle/>
          <a:p>
            <a:pPr indent="0" marL="0">
              <a:buNone/>
            </a:pPr>
            <a:r>
              <a:rPr lang="en-US" sz="1500" b="1" dirty="0">
                <a:solidFill>
                  <a:srgbClr val="F4F5F9"/>
                </a:solidFill>
                <a:latin typeface="Baloo 2" pitchFamily="34" charset="0"/>
                <a:ea typeface="Baloo 2" pitchFamily="34" charset="-122"/>
                <a:cs typeface="Baloo 2" pitchFamily="34" charset="-120"/>
              </a:rPr>
              <a:t>Letterboxd</a:t>
            </a:r>
            <a:endParaRPr lang="en-US" sz="1500" dirty="0"/>
          </a:p>
        </p:txBody>
      </p:sp>
      <p:sp>
        <p:nvSpPr>
          <p:cNvPr id="5" name="Text 3"/>
          <p:cNvSpPr/>
          <p:nvPr/>
        </p:nvSpPr>
        <p:spPr>
          <a:xfrm>
            <a:off x="7635240" y="1627632"/>
            <a:ext cx="4206240" cy="566928"/>
          </a:xfrm>
          <a:prstGeom prst="rect">
            <a:avLst/>
          </a:prstGeom>
          <a:noFill/>
          <a:ln/>
        </p:spPr>
        <p:txBody>
          <a:bodyPr wrap="square" lIns="0" tIns="0" rIns="0" bIns="0" rtlCol="0" anchor="ctr"/>
          <a:lstStyle/>
          <a:p>
            <a:pPr indent="0" marL="0">
              <a:buNone/>
            </a:pPr>
            <a:r>
              <a:rPr lang="en-US" sz="1500" b="1" dirty="0">
                <a:solidFill>
                  <a:srgbClr val="E8564A"/>
                </a:solidFill>
                <a:latin typeface="Baloo 2" pitchFamily="34" charset="0"/>
                <a:ea typeface="Baloo 2" pitchFamily="34" charset="-122"/>
                <a:cs typeface="Baloo 2" pitchFamily="34" charset="-120"/>
              </a:rPr>
              <a:t>GameBasket</a:t>
            </a:r>
            <a:endParaRPr lang="en-US" sz="1500" dirty="0"/>
          </a:p>
        </p:txBody>
      </p:sp>
      <p:sp>
        <p:nvSpPr>
          <p:cNvPr id="6" name="Text 4"/>
          <p:cNvSpPr/>
          <p:nvPr/>
        </p:nvSpPr>
        <p:spPr>
          <a:xfrm>
            <a:off x="777240" y="2340864"/>
            <a:ext cx="2103120" cy="566928"/>
          </a:xfrm>
          <a:prstGeom prst="rect">
            <a:avLst/>
          </a:prstGeom>
          <a:noFill/>
          <a:ln/>
        </p:spPr>
        <p:txBody>
          <a:bodyPr wrap="square" lIns="0" tIns="0" rIns="0" bIns="0" rtlCol="0" anchor="ctr"/>
          <a:lstStyle/>
          <a:p>
            <a:pPr indent="0" marL="0">
              <a:buNone/>
            </a:pPr>
            <a:r>
              <a:rPr lang="en-US" sz="1250" b="1" dirty="0">
                <a:solidFill>
                  <a:srgbClr val="F4F5F9"/>
                </a:solidFill>
                <a:latin typeface="Calibri" pitchFamily="34" charset="0"/>
                <a:ea typeface="Calibri" pitchFamily="34" charset="-122"/>
                <a:cs typeface="Calibri" pitchFamily="34" charset="-120"/>
              </a:rPr>
              <a:t>Core lens</a:t>
            </a:r>
            <a:endParaRPr lang="en-US" sz="1250" dirty="0"/>
          </a:p>
        </p:txBody>
      </p:sp>
      <p:sp>
        <p:nvSpPr>
          <p:cNvPr id="7" name="Text 5"/>
          <p:cNvSpPr/>
          <p:nvPr/>
        </p:nvSpPr>
        <p:spPr>
          <a:xfrm>
            <a:off x="3154680" y="2340864"/>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A diary — what you watched, and when</a:t>
            </a:r>
            <a:endParaRPr lang="en-US" sz="1250" dirty="0"/>
          </a:p>
        </p:txBody>
      </p:sp>
      <p:sp>
        <p:nvSpPr>
          <p:cNvPr id="8" name="Text 6"/>
          <p:cNvSpPr/>
          <p:nvPr/>
        </p:nvSpPr>
        <p:spPr>
          <a:xfrm>
            <a:off x="7635240" y="2340864"/>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Status first — Playing, Backlogged, Wishlist, Completed</a:t>
            </a:r>
            <a:endParaRPr lang="en-US" sz="1250" dirty="0"/>
          </a:p>
        </p:txBody>
      </p:sp>
      <p:sp>
        <p:nvSpPr>
          <p:cNvPr id="9" name="Shape 7"/>
          <p:cNvSpPr/>
          <p:nvPr/>
        </p:nvSpPr>
        <p:spPr>
          <a:xfrm>
            <a:off x="640080" y="2980944"/>
            <a:ext cx="11338560" cy="713232"/>
          </a:xfrm>
          <a:prstGeom prst="rect">
            <a:avLst/>
          </a:prstGeom>
          <a:solidFill>
            <a:srgbClr val="1A1D29"/>
          </a:solidFill>
          <a:ln/>
        </p:spPr>
      </p:sp>
      <p:sp>
        <p:nvSpPr>
          <p:cNvPr id="10" name="Text 8"/>
          <p:cNvSpPr/>
          <p:nvPr/>
        </p:nvSpPr>
        <p:spPr>
          <a:xfrm>
            <a:off x="777240" y="3054096"/>
            <a:ext cx="2103120" cy="566928"/>
          </a:xfrm>
          <a:prstGeom prst="rect">
            <a:avLst/>
          </a:prstGeom>
          <a:noFill/>
          <a:ln/>
        </p:spPr>
        <p:txBody>
          <a:bodyPr wrap="square" lIns="0" tIns="0" rIns="0" bIns="0" rtlCol="0" anchor="ctr"/>
          <a:lstStyle/>
          <a:p>
            <a:pPr indent="0" marL="0">
              <a:buNone/>
            </a:pPr>
            <a:r>
              <a:rPr lang="en-US" sz="1250" b="1" dirty="0">
                <a:solidFill>
                  <a:srgbClr val="F4F5F9"/>
                </a:solidFill>
                <a:latin typeface="Calibri" pitchFamily="34" charset="0"/>
                <a:ea typeface="Calibri" pitchFamily="34" charset="-122"/>
                <a:cs typeface="Calibri" pitchFamily="34" charset="-120"/>
              </a:rPr>
              <a:t>Logging unit</a:t>
            </a:r>
            <a:endParaRPr lang="en-US" sz="1250" dirty="0"/>
          </a:p>
        </p:txBody>
      </p:sp>
      <p:sp>
        <p:nvSpPr>
          <p:cNvPr id="11" name="Text 9"/>
          <p:cNvSpPr/>
          <p:nvPr/>
        </p:nvSpPr>
        <p:spPr>
          <a:xfrm>
            <a:off x="3154680" y="3054096"/>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One entry per watch</a:t>
            </a:r>
            <a:endParaRPr lang="en-US" sz="1250" dirty="0"/>
          </a:p>
        </p:txBody>
      </p:sp>
      <p:sp>
        <p:nvSpPr>
          <p:cNvPr id="12" name="Text 10"/>
          <p:cNvSpPr/>
          <p:nvPr/>
        </p:nvSpPr>
        <p:spPr>
          <a:xfrm>
            <a:off x="7635240" y="3054096"/>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Multiple play sessions, with playtime tracked</a:t>
            </a:r>
            <a:endParaRPr lang="en-US" sz="1250" dirty="0"/>
          </a:p>
        </p:txBody>
      </p:sp>
      <p:sp>
        <p:nvSpPr>
          <p:cNvPr id="13" name="Text 11"/>
          <p:cNvSpPr/>
          <p:nvPr/>
        </p:nvSpPr>
        <p:spPr>
          <a:xfrm>
            <a:off x="777240" y="3767328"/>
            <a:ext cx="2103120" cy="566928"/>
          </a:xfrm>
          <a:prstGeom prst="rect">
            <a:avLst/>
          </a:prstGeom>
          <a:noFill/>
          <a:ln/>
        </p:spPr>
        <p:txBody>
          <a:bodyPr wrap="square" lIns="0" tIns="0" rIns="0" bIns="0" rtlCol="0" anchor="ctr"/>
          <a:lstStyle/>
          <a:p>
            <a:pPr indent="0" marL="0">
              <a:buNone/>
            </a:pPr>
            <a:r>
              <a:rPr lang="en-US" sz="1250" b="1" dirty="0">
                <a:solidFill>
                  <a:srgbClr val="F4F5F9"/>
                </a:solidFill>
                <a:latin typeface="Calibri" pitchFamily="34" charset="0"/>
                <a:ea typeface="Calibri" pitchFamily="34" charset="-122"/>
                <a:cs typeface="Calibri" pitchFamily="34" charset="-120"/>
              </a:rPr>
              <a:t>Social tag</a:t>
            </a:r>
            <a:endParaRPr lang="en-US" sz="1250" dirty="0"/>
          </a:p>
        </p:txBody>
      </p:sp>
      <p:sp>
        <p:nvSpPr>
          <p:cNvPr id="14" name="Text 12"/>
          <p:cNvSpPr/>
          <p:nvPr/>
        </p:nvSpPr>
        <p:spPr>
          <a:xfrm>
            <a:off x="3154680" y="3767328"/>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Reviewed by</a:t>
            </a:r>
            <a:endParaRPr lang="en-US" sz="1250" dirty="0"/>
          </a:p>
        </p:txBody>
      </p:sp>
      <p:sp>
        <p:nvSpPr>
          <p:cNvPr id="15" name="Text 13"/>
          <p:cNvSpPr/>
          <p:nvPr/>
        </p:nvSpPr>
        <p:spPr>
          <a:xfrm>
            <a:off x="7635240" y="3767328"/>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Played With — real co-op partners</a:t>
            </a:r>
            <a:endParaRPr lang="en-US" sz="1250" dirty="0"/>
          </a:p>
        </p:txBody>
      </p:sp>
      <p:sp>
        <p:nvSpPr>
          <p:cNvPr id="16" name="Shape 14"/>
          <p:cNvSpPr/>
          <p:nvPr/>
        </p:nvSpPr>
        <p:spPr>
          <a:xfrm>
            <a:off x="640080" y="4407408"/>
            <a:ext cx="11338560" cy="713232"/>
          </a:xfrm>
          <a:prstGeom prst="rect">
            <a:avLst/>
          </a:prstGeom>
          <a:solidFill>
            <a:srgbClr val="1A1D29"/>
          </a:solidFill>
          <a:ln/>
        </p:spPr>
      </p:sp>
      <p:sp>
        <p:nvSpPr>
          <p:cNvPr id="17" name="Text 15"/>
          <p:cNvSpPr/>
          <p:nvPr/>
        </p:nvSpPr>
        <p:spPr>
          <a:xfrm>
            <a:off x="777240" y="4480560"/>
            <a:ext cx="2103120" cy="566928"/>
          </a:xfrm>
          <a:prstGeom prst="rect">
            <a:avLst/>
          </a:prstGeom>
          <a:noFill/>
          <a:ln/>
        </p:spPr>
        <p:txBody>
          <a:bodyPr wrap="square" lIns="0" tIns="0" rIns="0" bIns="0" rtlCol="0" anchor="ctr"/>
          <a:lstStyle/>
          <a:p>
            <a:pPr indent="0" marL="0">
              <a:buNone/>
            </a:pPr>
            <a:r>
              <a:rPr lang="en-US" sz="1250" b="1" dirty="0">
                <a:solidFill>
                  <a:srgbClr val="F4F5F9"/>
                </a:solidFill>
                <a:latin typeface="Calibri" pitchFamily="34" charset="0"/>
                <a:ea typeface="Calibri" pitchFamily="34" charset="-122"/>
                <a:cs typeface="Calibri" pitchFamily="34" charset="-120"/>
              </a:rPr>
              <a:t>Rating unit</a:t>
            </a:r>
            <a:endParaRPr lang="en-US" sz="1250" dirty="0"/>
          </a:p>
        </p:txBody>
      </p:sp>
      <p:sp>
        <p:nvSpPr>
          <p:cNvPr id="18" name="Text 16"/>
          <p:cNvSpPr/>
          <p:nvPr/>
        </p:nvSpPr>
        <p:spPr>
          <a:xfrm>
            <a:off x="3154680" y="4480560"/>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Stars</a:t>
            </a:r>
            <a:endParaRPr lang="en-US" sz="1250" dirty="0"/>
          </a:p>
        </p:txBody>
      </p:sp>
      <p:sp>
        <p:nvSpPr>
          <p:cNvPr id="19" name="Text 17"/>
          <p:cNvSpPr/>
          <p:nvPr/>
        </p:nvSpPr>
        <p:spPr>
          <a:xfrm>
            <a:off x="7635240" y="4480560"/>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Pixel hearts</a:t>
            </a:r>
            <a:endParaRPr lang="en-US" sz="1250" dirty="0"/>
          </a:p>
        </p:txBody>
      </p:sp>
      <p:sp>
        <p:nvSpPr>
          <p:cNvPr id="20" name="Text 18"/>
          <p:cNvSpPr/>
          <p:nvPr/>
        </p:nvSpPr>
        <p:spPr>
          <a:xfrm>
            <a:off x="777240" y="5193792"/>
            <a:ext cx="2103120" cy="566928"/>
          </a:xfrm>
          <a:prstGeom prst="rect">
            <a:avLst/>
          </a:prstGeom>
          <a:noFill/>
          <a:ln/>
        </p:spPr>
        <p:txBody>
          <a:bodyPr wrap="square" lIns="0" tIns="0" rIns="0" bIns="0" rtlCol="0" anchor="ctr"/>
          <a:lstStyle/>
          <a:p>
            <a:pPr indent="0" marL="0">
              <a:buNone/>
            </a:pPr>
            <a:r>
              <a:rPr lang="en-US" sz="1250" b="1" dirty="0">
                <a:solidFill>
                  <a:srgbClr val="F4F5F9"/>
                </a:solidFill>
                <a:latin typeface="Calibri" pitchFamily="34" charset="0"/>
                <a:ea typeface="Calibri" pitchFamily="34" charset="-122"/>
                <a:cs typeface="Calibri" pitchFamily="34" charset="-120"/>
              </a:rPr>
              <a:t>Content lifespan</a:t>
            </a:r>
            <a:endParaRPr lang="en-US" sz="1250" dirty="0"/>
          </a:p>
        </p:txBody>
      </p:sp>
      <p:sp>
        <p:nvSpPr>
          <p:cNvPr id="21" name="Text 19"/>
          <p:cNvSpPr/>
          <p:nvPr/>
        </p:nvSpPr>
        <p:spPr>
          <a:xfrm>
            <a:off x="3154680" y="5193792"/>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Static — a film never changes</a:t>
            </a:r>
            <a:endParaRPr lang="en-US" sz="1250" dirty="0"/>
          </a:p>
        </p:txBody>
      </p:sp>
      <p:sp>
        <p:nvSpPr>
          <p:cNvPr id="22" name="Text 20"/>
          <p:cNvSpPr/>
          <p:nvPr/>
        </p:nvSpPr>
        <p:spPr>
          <a:xfrm>
            <a:off x="7635240" y="5193792"/>
            <a:ext cx="4206240" cy="566928"/>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Live-service games keep evolving after logging</a:t>
            </a:r>
            <a:endParaRPr lang="en-US" sz="1250" dirty="0"/>
          </a:p>
        </p:txBody>
      </p:sp>
      <p:sp>
        <p:nvSpPr>
          <p:cNvPr id="23" name="Text 21"/>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24" name="Shape 22"/>
          <p:cNvSpPr/>
          <p:nvPr/>
        </p:nvSpPr>
        <p:spPr>
          <a:xfrm>
            <a:off x="10765231" y="6437376"/>
            <a:ext cx="109728" cy="109728"/>
          </a:xfrm>
          <a:prstGeom prst="ellipse">
            <a:avLst/>
          </a:prstGeom>
          <a:solidFill>
            <a:srgbClr val="E8564A"/>
          </a:solidFill>
          <a:ln/>
        </p:spPr>
      </p:sp>
      <p:sp>
        <p:nvSpPr>
          <p:cNvPr id="25" name="Shape 23"/>
          <p:cNvSpPr/>
          <p:nvPr/>
        </p:nvSpPr>
        <p:spPr>
          <a:xfrm>
            <a:off x="10948111" y="6437376"/>
            <a:ext cx="109728" cy="109728"/>
          </a:xfrm>
          <a:prstGeom prst="ellipse">
            <a:avLst/>
          </a:prstGeom>
          <a:solidFill>
            <a:srgbClr val="2E56A6"/>
          </a:solidFill>
          <a:ln/>
        </p:spPr>
      </p:sp>
      <p:sp>
        <p:nvSpPr>
          <p:cNvPr id="26" name="Shape 24"/>
          <p:cNvSpPr/>
          <p:nvPr/>
        </p:nvSpPr>
        <p:spPr>
          <a:xfrm>
            <a:off x="11130991" y="6437376"/>
            <a:ext cx="109728" cy="109728"/>
          </a:xfrm>
          <a:prstGeom prst="ellipse">
            <a:avLst/>
          </a:prstGeom>
          <a:solidFill>
            <a:srgbClr val="47AD6C"/>
          </a:solidFill>
          <a:ln/>
        </p:spPr>
      </p:sp>
      <p:sp>
        <p:nvSpPr>
          <p:cNvPr id="27" name="Shape 25"/>
          <p:cNvSpPr/>
          <p:nvPr/>
        </p:nvSpPr>
        <p:spPr>
          <a:xfrm>
            <a:off x="11313871" y="6437376"/>
            <a:ext cx="109728" cy="109728"/>
          </a:xfrm>
          <a:prstGeom prst="ellipse">
            <a:avLst/>
          </a:prstGeom>
          <a:solidFill>
            <a:srgbClr val="F1BC33"/>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A proven model, borrowed on purpose</a:t>
            </a:r>
            <a:endParaRPr lang="en-US" sz="3200" dirty="0"/>
          </a:p>
        </p:txBody>
      </p:sp>
      <p:sp>
        <p:nvSpPr>
          <p:cNvPr id="3" name="Text 1"/>
          <p:cNvSpPr/>
          <p:nvPr/>
        </p:nvSpPr>
        <p:spPr>
          <a:xfrm>
            <a:off x="640080" y="1280160"/>
            <a:ext cx="10911535" cy="457200"/>
          </a:xfrm>
          <a:prstGeom prst="rect">
            <a:avLst/>
          </a:prstGeom>
          <a:noFill/>
          <a:ln/>
        </p:spPr>
        <p:txBody>
          <a:bodyPr wrap="square" lIns="0" tIns="0" rIns="0" bIns="0" rtlCol="0" anchor="ctr"/>
          <a:lstStyle/>
          <a:p>
            <a:pPr indent="0" marL="0">
              <a:buNone/>
            </a:pPr>
            <a:r>
              <a:rPr lang="en-US" sz="1350" i="1" dirty="0">
                <a:solidFill>
                  <a:srgbClr val="9AA1B4"/>
                </a:solidFill>
                <a:latin typeface="Calibri" pitchFamily="34" charset="0"/>
                <a:ea typeface="Calibri" pitchFamily="34" charset="-122"/>
                <a:cs typeface="Calibri" pitchFamily="34" charset="-120"/>
              </a:rPr>
              <a:t>Letterboxd never took outside funding until 2023 — it ran on exactly this mix for over a decade.</a:t>
            </a:r>
            <a:endParaRPr lang="en-US" sz="1350" dirty="0"/>
          </a:p>
        </p:txBody>
      </p:sp>
      <p:sp>
        <p:nvSpPr>
          <p:cNvPr id="4" name="Shape 2"/>
          <p:cNvSpPr/>
          <p:nvPr/>
        </p:nvSpPr>
        <p:spPr>
          <a:xfrm>
            <a:off x="632308" y="1965960"/>
            <a:ext cx="3429000" cy="3840480"/>
          </a:xfrm>
          <a:prstGeom prst="roundRect">
            <a:avLst>
              <a:gd name="adj" fmla="val 3733"/>
            </a:avLst>
          </a:prstGeom>
          <a:solidFill>
            <a:srgbClr val="1A1D29"/>
          </a:solidFill>
          <a:ln/>
        </p:spPr>
      </p:sp>
      <p:sp>
        <p:nvSpPr>
          <p:cNvPr id="5" name="Shape 3"/>
          <p:cNvSpPr/>
          <p:nvPr/>
        </p:nvSpPr>
        <p:spPr>
          <a:xfrm>
            <a:off x="906628" y="2240280"/>
            <a:ext cx="292608" cy="292608"/>
          </a:xfrm>
          <a:prstGeom prst="ellipse">
            <a:avLst/>
          </a:prstGeom>
          <a:solidFill>
            <a:srgbClr val="E8564A"/>
          </a:solidFill>
          <a:ln/>
        </p:spPr>
      </p:sp>
      <p:sp>
        <p:nvSpPr>
          <p:cNvPr id="6" name="Text 4"/>
          <p:cNvSpPr/>
          <p:nvPr/>
        </p:nvSpPr>
        <p:spPr>
          <a:xfrm>
            <a:off x="906628" y="2743200"/>
            <a:ext cx="2880360" cy="54864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Freemium subscriptions</a:t>
            </a:r>
            <a:endParaRPr lang="en-US" sz="1600" dirty="0"/>
          </a:p>
        </p:txBody>
      </p:sp>
      <p:sp>
        <p:nvSpPr>
          <p:cNvPr id="7" name="Text 5"/>
          <p:cNvSpPr/>
          <p:nvPr/>
        </p:nvSpPr>
        <p:spPr>
          <a:xfrm>
            <a:off x="906628" y="3337560"/>
            <a:ext cx="2880360" cy="22860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Free core: logging, ratings, basic lists. Paid Pro tier: deep stats, playtime trends, Steam/PSN/Xbox auto-sync, backlog forecasting.</a:t>
            </a:r>
            <a:endParaRPr lang="en-US" sz="1250" dirty="0"/>
          </a:p>
        </p:txBody>
      </p:sp>
      <p:sp>
        <p:nvSpPr>
          <p:cNvPr id="8" name="Shape 6"/>
          <p:cNvSpPr/>
          <p:nvPr/>
        </p:nvSpPr>
        <p:spPr>
          <a:xfrm>
            <a:off x="4381348" y="1965960"/>
            <a:ext cx="3429000" cy="3840480"/>
          </a:xfrm>
          <a:prstGeom prst="roundRect">
            <a:avLst>
              <a:gd name="adj" fmla="val 3733"/>
            </a:avLst>
          </a:prstGeom>
          <a:solidFill>
            <a:srgbClr val="1A1D29"/>
          </a:solidFill>
          <a:ln/>
        </p:spPr>
      </p:sp>
      <p:sp>
        <p:nvSpPr>
          <p:cNvPr id="9" name="Shape 7"/>
          <p:cNvSpPr/>
          <p:nvPr/>
        </p:nvSpPr>
        <p:spPr>
          <a:xfrm>
            <a:off x="4655668" y="2240280"/>
            <a:ext cx="292608" cy="292608"/>
          </a:xfrm>
          <a:prstGeom prst="ellipse">
            <a:avLst/>
          </a:prstGeom>
          <a:solidFill>
            <a:srgbClr val="2E56A6"/>
          </a:solidFill>
          <a:ln/>
        </p:spPr>
      </p:sp>
      <p:sp>
        <p:nvSpPr>
          <p:cNvPr id="10" name="Text 8"/>
          <p:cNvSpPr/>
          <p:nvPr/>
        </p:nvSpPr>
        <p:spPr>
          <a:xfrm>
            <a:off x="4655668" y="2743200"/>
            <a:ext cx="2880360" cy="54864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Advertising</a:t>
            </a:r>
            <a:endParaRPr lang="en-US" sz="1600" dirty="0"/>
          </a:p>
        </p:txBody>
      </p:sp>
      <p:sp>
        <p:nvSpPr>
          <p:cNvPr id="11" name="Text 9"/>
          <p:cNvSpPr/>
          <p:nvPr/>
        </p:nvSpPr>
        <p:spPr>
          <a:xfrm>
            <a:off x="4655668" y="3337560"/>
            <a:ext cx="2880360" cy="22860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Letterboxd saw a 490% jump in ad revenue after professionalizing its ad stack — a lightweight path to revenue on the free tier.</a:t>
            </a:r>
            <a:endParaRPr lang="en-US" sz="1250" dirty="0"/>
          </a:p>
        </p:txBody>
      </p:sp>
      <p:sp>
        <p:nvSpPr>
          <p:cNvPr id="12" name="Shape 10"/>
          <p:cNvSpPr/>
          <p:nvPr/>
        </p:nvSpPr>
        <p:spPr>
          <a:xfrm>
            <a:off x="8130388" y="1965960"/>
            <a:ext cx="3429000" cy="3840480"/>
          </a:xfrm>
          <a:prstGeom prst="roundRect">
            <a:avLst>
              <a:gd name="adj" fmla="val 3733"/>
            </a:avLst>
          </a:prstGeom>
          <a:solidFill>
            <a:srgbClr val="1A1D29"/>
          </a:solidFill>
          <a:ln/>
        </p:spPr>
      </p:sp>
      <p:sp>
        <p:nvSpPr>
          <p:cNvPr id="13" name="Shape 11"/>
          <p:cNvSpPr/>
          <p:nvPr/>
        </p:nvSpPr>
        <p:spPr>
          <a:xfrm>
            <a:off x="8404708" y="2240280"/>
            <a:ext cx="292608" cy="292608"/>
          </a:xfrm>
          <a:prstGeom prst="ellipse">
            <a:avLst/>
          </a:prstGeom>
          <a:solidFill>
            <a:srgbClr val="47AD6C"/>
          </a:solidFill>
          <a:ln/>
        </p:spPr>
      </p:sp>
      <p:sp>
        <p:nvSpPr>
          <p:cNvPr id="14" name="Text 12"/>
          <p:cNvSpPr/>
          <p:nvPr/>
        </p:nvSpPr>
        <p:spPr>
          <a:xfrm>
            <a:off x="8404708" y="2743200"/>
            <a:ext cx="2880360" cy="54864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Brand &amp; studio partnerships</a:t>
            </a:r>
            <a:endParaRPr lang="en-US" sz="1600" dirty="0"/>
          </a:p>
        </p:txBody>
      </p:sp>
      <p:sp>
        <p:nvSpPr>
          <p:cNvPr id="15" name="Text 13"/>
          <p:cNvSpPr/>
          <p:nvPr/>
        </p:nvSpPr>
        <p:spPr>
          <a:xfrm>
            <a:off x="8404708" y="3337560"/>
            <a:ext cx="2880360" cy="22860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Sponsored lists, launch placements, and curated content — the same playbook publishers already use with Letterboxd.</a:t>
            </a:r>
            <a:endParaRPr lang="en-US" sz="1250" dirty="0"/>
          </a:p>
        </p:txBody>
      </p:sp>
      <p:sp>
        <p:nvSpPr>
          <p:cNvPr id="16" name="Text 14"/>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17" name="Shape 15"/>
          <p:cNvSpPr/>
          <p:nvPr/>
        </p:nvSpPr>
        <p:spPr>
          <a:xfrm>
            <a:off x="10765231" y="6437376"/>
            <a:ext cx="109728" cy="109728"/>
          </a:xfrm>
          <a:prstGeom prst="ellipse">
            <a:avLst/>
          </a:prstGeom>
          <a:solidFill>
            <a:srgbClr val="E8564A"/>
          </a:solidFill>
          <a:ln/>
        </p:spPr>
      </p:sp>
      <p:sp>
        <p:nvSpPr>
          <p:cNvPr id="18" name="Shape 16"/>
          <p:cNvSpPr/>
          <p:nvPr/>
        </p:nvSpPr>
        <p:spPr>
          <a:xfrm>
            <a:off x="10948111" y="6437376"/>
            <a:ext cx="109728" cy="109728"/>
          </a:xfrm>
          <a:prstGeom prst="ellipse">
            <a:avLst/>
          </a:prstGeom>
          <a:solidFill>
            <a:srgbClr val="2E56A6"/>
          </a:solidFill>
          <a:ln/>
        </p:spPr>
      </p:sp>
      <p:sp>
        <p:nvSpPr>
          <p:cNvPr id="19" name="Shape 17"/>
          <p:cNvSpPr/>
          <p:nvPr/>
        </p:nvSpPr>
        <p:spPr>
          <a:xfrm>
            <a:off x="11130991" y="6437376"/>
            <a:ext cx="109728" cy="109728"/>
          </a:xfrm>
          <a:prstGeom prst="ellipse">
            <a:avLst/>
          </a:prstGeom>
          <a:solidFill>
            <a:srgbClr val="47AD6C"/>
          </a:solidFill>
          <a:ln/>
        </p:spPr>
      </p:sp>
      <p:sp>
        <p:nvSpPr>
          <p:cNvPr id="20" name="Shape 18"/>
          <p:cNvSpPr/>
          <p:nvPr/>
        </p:nvSpPr>
        <p:spPr>
          <a:xfrm>
            <a:off x="11313871" y="6437376"/>
            <a:ext cx="109728" cy="109728"/>
          </a:xfrm>
          <a:prstGeom prst="ellipse">
            <a:avLst/>
          </a:prstGeom>
          <a:solidFill>
            <a:srgbClr val="F1BC33"/>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57200"/>
            <a:ext cx="10911535" cy="822960"/>
          </a:xfrm>
          <a:prstGeom prst="rect">
            <a:avLst/>
          </a:prstGeom>
          <a:noFill/>
          <a:ln/>
        </p:spPr>
        <p:txBody>
          <a:bodyPr wrap="square" lIns="0" tIns="0" rIns="0" bIns="0" rtlCol="0" anchor="ctr"/>
          <a:lstStyle/>
          <a:p>
            <a:pPr algn="l" indent="0" marL="0">
              <a:buNone/>
            </a:pPr>
            <a:r>
              <a:rPr lang="en-US" sz="3200" b="1" dirty="0">
                <a:solidFill>
                  <a:srgbClr val="F4F5F9"/>
                </a:solidFill>
                <a:latin typeface="Baloo 2" pitchFamily="34" charset="0"/>
                <a:ea typeface="Baloo 2" pitchFamily="34" charset="-122"/>
                <a:cs typeface="Baloo 2" pitchFamily="34" charset="-120"/>
              </a:rPr>
              <a:t>How we'd actually get this off the ground</a:t>
            </a:r>
            <a:endParaRPr lang="en-US" sz="3200" dirty="0"/>
          </a:p>
        </p:txBody>
      </p:sp>
      <p:sp>
        <p:nvSpPr>
          <p:cNvPr id="3" name="Shape 1"/>
          <p:cNvSpPr/>
          <p:nvPr/>
        </p:nvSpPr>
        <p:spPr>
          <a:xfrm>
            <a:off x="640080" y="1600200"/>
            <a:ext cx="502920" cy="502920"/>
          </a:xfrm>
          <a:prstGeom prst="ellipse">
            <a:avLst/>
          </a:prstGeom>
          <a:solidFill>
            <a:srgbClr val="E8564A"/>
          </a:solidFill>
          <a:ln/>
        </p:spPr>
      </p:sp>
      <p:sp>
        <p:nvSpPr>
          <p:cNvPr id="4" name="Text 2"/>
          <p:cNvSpPr/>
          <p:nvPr/>
        </p:nvSpPr>
        <p:spPr>
          <a:xfrm>
            <a:off x="640080" y="1600200"/>
            <a:ext cx="502920" cy="502920"/>
          </a:xfrm>
          <a:prstGeom prst="rect">
            <a:avLst/>
          </a:prstGeom>
          <a:noFill/>
          <a:ln/>
        </p:spPr>
        <p:txBody>
          <a:bodyPr wrap="square" lIns="0" tIns="0" rIns="0" bIns="0" rtlCol="0" anchor="ctr"/>
          <a:lstStyle/>
          <a:p>
            <a:pPr algn="ctr" indent="0" marL="0">
              <a:buNone/>
            </a:pPr>
            <a:r>
              <a:rPr lang="en-US" sz="2000" b="1" dirty="0">
                <a:solidFill>
                  <a:srgbClr val="12141C"/>
                </a:solidFill>
                <a:latin typeface="Baloo 2" pitchFamily="34" charset="0"/>
                <a:ea typeface="Baloo 2" pitchFamily="34" charset="-122"/>
                <a:cs typeface="Baloo 2" pitchFamily="34" charset="-120"/>
              </a:rPr>
              <a:t>1</a:t>
            </a:r>
            <a:endParaRPr lang="en-US" sz="2000" dirty="0"/>
          </a:p>
        </p:txBody>
      </p:sp>
      <p:sp>
        <p:nvSpPr>
          <p:cNvPr id="5" name="Text 3"/>
          <p:cNvSpPr/>
          <p:nvPr/>
        </p:nvSpPr>
        <p:spPr>
          <a:xfrm>
            <a:off x="1371600" y="1554480"/>
            <a:ext cx="2743200" cy="50292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Validate</a:t>
            </a:r>
            <a:endParaRPr lang="en-US" sz="1600" dirty="0"/>
          </a:p>
        </p:txBody>
      </p:sp>
      <p:sp>
        <p:nvSpPr>
          <p:cNvPr id="6" name="Text 4"/>
          <p:cNvSpPr/>
          <p:nvPr/>
        </p:nvSpPr>
        <p:spPr>
          <a:xfrm>
            <a:off x="4206240" y="1554480"/>
            <a:ext cx="7345375"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Talk to 10–15 current Backloggd/GG users. Confirm the auto-sync + native-app wedge is the real pain point before writing code.</a:t>
            </a:r>
            <a:endParaRPr lang="en-US" sz="1250" dirty="0"/>
          </a:p>
        </p:txBody>
      </p:sp>
      <p:sp>
        <p:nvSpPr>
          <p:cNvPr id="7" name="Shape 5"/>
          <p:cNvSpPr/>
          <p:nvPr/>
        </p:nvSpPr>
        <p:spPr>
          <a:xfrm>
            <a:off x="640080" y="2651760"/>
            <a:ext cx="502920" cy="502920"/>
          </a:xfrm>
          <a:prstGeom prst="ellipse">
            <a:avLst/>
          </a:prstGeom>
          <a:solidFill>
            <a:srgbClr val="2E56A6"/>
          </a:solidFill>
          <a:ln/>
        </p:spPr>
      </p:sp>
      <p:sp>
        <p:nvSpPr>
          <p:cNvPr id="8" name="Text 6"/>
          <p:cNvSpPr/>
          <p:nvPr/>
        </p:nvSpPr>
        <p:spPr>
          <a:xfrm>
            <a:off x="640080" y="2651760"/>
            <a:ext cx="502920" cy="502920"/>
          </a:xfrm>
          <a:prstGeom prst="rect">
            <a:avLst/>
          </a:prstGeom>
          <a:noFill/>
          <a:ln/>
        </p:spPr>
        <p:txBody>
          <a:bodyPr wrap="square" lIns="0" tIns="0" rIns="0" bIns="0" rtlCol="0" anchor="ctr"/>
          <a:lstStyle/>
          <a:p>
            <a:pPr algn="ctr" indent="0" marL="0">
              <a:buNone/>
            </a:pPr>
            <a:r>
              <a:rPr lang="en-US" sz="2000" b="1" dirty="0">
                <a:solidFill>
                  <a:srgbClr val="12141C"/>
                </a:solidFill>
                <a:latin typeface="Baloo 2" pitchFamily="34" charset="0"/>
                <a:ea typeface="Baloo 2" pitchFamily="34" charset="-122"/>
                <a:cs typeface="Baloo 2" pitchFamily="34" charset="-120"/>
              </a:rPr>
              <a:t>2</a:t>
            </a:r>
            <a:endParaRPr lang="en-US" sz="2000" dirty="0"/>
          </a:p>
        </p:txBody>
      </p:sp>
      <p:sp>
        <p:nvSpPr>
          <p:cNvPr id="9" name="Text 7"/>
          <p:cNvSpPr/>
          <p:nvPr/>
        </p:nvSpPr>
        <p:spPr>
          <a:xfrm>
            <a:off x="1371600" y="2606040"/>
            <a:ext cx="2743200" cy="50292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Scope a lean MVP</a:t>
            </a:r>
            <a:endParaRPr lang="en-US" sz="1600" dirty="0"/>
          </a:p>
        </p:txBody>
      </p:sp>
      <p:sp>
        <p:nvSpPr>
          <p:cNvPr id="10" name="Text 8"/>
          <p:cNvSpPr/>
          <p:nvPr/>
        </p:nvSpPr>
        <p:spPr>
          <a:xfrm>
            <a:off x="4206240" y="2606040"/>
            <a:ext cx="7345375"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Log, rate, review, one platform auto-sync (Steam first). Skip social and stats dashboards until the core loop works.</a:t>
            </a:r>
            <a:endParaRPr lang="en-US" sz="1250" dirty="0"/>
          </a:p>
        </p:txBody>
      </p:sp>
      <p:sp>
        <p:nvSpPr>
          <p:cNvPr id="11" name="Shape 9"/>
          <p:cNvSpPr/>
          <p:nvPr/>
        </p:nvSpPr>
        <p:spPr>
          <a:xfrm>
            <a:off x="640080" y="3703320"/>
            <a:ext cx="502920" cy="502920"/>
          </a:xfrm>
          <a:prstGeom prst="ellipse">
            <a:avLst/>
          </a:prstGeom>
          <a:solidFill>
            <a:srgbClr val="47AD6C"/>
          </a:solidFill>
          <a:ln/>
        </p:spPr>
      </p:sp>
      <p:sp>
        <p:nvSpPr>
          <p:cNvPr id="12" name="Text 10"/>
          <p:cNvSpPr/>
          <p:nvPr/>
        </p:nvSpPr>
        <p:spPr>
          <a:xfrm>
            <a:off x="640080" y="3703320"/>
            <a:ext cx="502920" cy="502920"/>
          </a:xfrm>
          <a:prstGeom prst="rect">
            <a:avLst/>
          </a:prstGeom>
          <a:noFill/>
          <a:ln/>
        </p:spPr>
        <p:txBody>
          <a:bodyPr wrap="square" lIns="0" tIns="0" rIns="0" bIns="0" rtlCol="0" anchor="ctr"/>
          <a:lstStyle/>
          <a:p>
            <a:pPr algn="ctr" indent="0" marL="0">
              <a:buNone/>
            </a:pPr>
            <a:r>
              <a:rPr lang="en-US" sz="2000" b="1" dirty="0">
                <a:solidFill>
                  <a:srgbClr val="12141C"/>
                </a:solidFill>
                <a:latin typeface="Baloo 2" pitchFamily="34" charset="0"/>
                <a:ea typeface="Baloo 2" pitchFamily="34" charset="-122"/>
                <a:cs typeface="Baloo 2" pitchFamily="34" charset="-120"/>
              </a:rPr>
              <a:t>3</a:t>
            </a:r>
            <a:endParaRPr lang="en-US" sz="2000" dirty="0"/>
          </a:p>
        </p:txBody>
      </p:sp>
      <p:sp>
        <p:nvSpPr>
          <p:cNvPr id="13" name="Text 11"/>
          <p:cNvSpPr/>
          <p:nvPr/>
        </p:nvSpPr>
        <p:spPr>
          <a:xfrm>
            <a:off x="1371600" y="3657600"/>
            <a:ext cx="2743200" cy="50292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Build &amp; seed</a:t>
            </a:r>
            <a:endParaRPr lang="en-US" sz="1600" dirty="0"/>
          </a:p>
        </p:txBody>
      </p:sp>
      <p:sp>
        <p:nvSpPr>
          <p:cNvPr id="14" name="Text 12"/>
          <p:cNvSpPr/>
          <p:nvPr/>
        </p:nvSpPr>
        <p:spPr>
          <a:xfrm>
            <a:off x="4206240" y="3657600"/>
            <a:ext cx="7345375"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Prototype the app, then seed a Discord and subreddit before public launch — solve the cold-start problem on purpose.</a:t>
            </a:r>
            <a:endParaRPr lang="en-US" sz="1250" dirty="0"/>
          </a:p>
        </p:txBody>
      </p:sp>
      <p:sp>
        <p:nvSpPr>
          <p:cNvPr id="15" name="Shape 13"/>
          <p:cNvSpPr/>
          <p:nvPr/>
        </p:nvSpPr>
        <p:spPr>
          <a:xfrm>
            <a:off x="640080" y="4754880"/>
            <a:ext cx="502920" cy="502920"/>
          </a:xfrm>
          <a:prstGeom prst="ellipse">
            <a:avLst/>
          </a:prstGeom>
          <a:solidFill>
            <a:srgbClr val="F1BC33"/>
          </a:solidFill>
          <a:ln/>
        </p:spPr>
      </p:sp>
      <p:sp>
        <p:nvSpPr>
          <p:cNvPr id="16" name="Text 14"/>
          <p:cNvSpPr/>
          <p:nvPr/>
        </p:nvSpPr>
        <p:spPr>
          <a:xfrm>
            <a:off x="640080" y="4754880"/>
            <a:ext cx="502920" cy="502920"/>
          </a:xfrm>
          <a:prstGeom prst="rect">
            <a:avLst/>
          </a:prstGeom>
          <a:noFill/>
          <a:ln/>
        </p:spPr>
        <p:txBody>
          <a:bodyPr wrap="square" lIns="0" tIns="0" rIns="0" bIns="0" rtlCol="0" anchor="ctr"/>
          <a:lstStyle/>
          <a:p>
            <a:pPr algn="ctr" indent="0" marL="0">
              <a:buNone/>
            </a:pPr>
            <a:r>
              <a:rPr lang="en-US" sz="2000" b="1" dirty="0">
                <a:solidFill>
                  <a:srgbClr val="12141C"/>
                </a:solidFill>
                <a:latin typeface="Baloo 2" pitchFamily="34" charset="0"/>
                <a:ea typeface="Baloo 2" pitchFamily="34" charset="-122"/>
                <a:cs typeface="Baloo 2" pitchFamily="34" charset="-120"/>
              </a:rPr>
              <a:t>4</a:t>
            </a:r>
            <a:endParaRPr lang="en-US" sz="2000" dirty="0"/>
          </a:p>
        </p:txBody>
      </p:sp>
      <p:sp>
        <p:nvSpPr>
          <p:cNvPr id="17" name="Text 15"/>
          <p:cNvSpPr/>
          <p:nvPr/>
        </p:nvSpPr>
        <p:spPr>
          <a:xfrm>
            <a:off x="1371600" y="4709160"/>
            <a:ext cx="2743200" cy="502920"/>
          </a:xfrm>
          <a:prstGeom prst="rect">
            <a:avLst/>
          </a:prstGeom>
          <a:noFill/>
          <a:ln/>
        </p:spPr>
        <p:txBody>
          <a:bodyPr wrap="square" lIns="0" tIns="0" rIns="0" bIns="0" rtlCol="0" anchor="ctr"/>
          <a:lstStyle/>
          <a:p>
            <a:pPr indent="0" marL="0">
              <a:buNone/>
            </a:pPr>
            <a:r>
              <a:rPr lang="en-US" sz="1600" b="1" dirty="0">
                <a:solidFill>
                  <a:srgbClr val="F4F5F9"/>
                </a:solidFill>
                <a:latin typeface="Baloo 2" pitchFamily="34" charset="0"/>
                <a:ea typeface="Baloo 2" pitchFamily="34" charset="-122"/>
                <a:cs typeface="Baloo 2" pitchFamily="34" charset="-120"/>
              </a:rPr>
              <a:t>Formalize</a:t>
            </a:r>
            <a:endParaRPr lang="en-US" sz="1600" dirty="0"/>
          </a:p>
        </p:txBody>
      </p:sp>
      <p:sp>
        <p:nvSpPr>
          <p:cNvPr id="18" name="Text 16"/>
          <p:cNvSpPr/>
          <p:nvPr/>
        </p:nvSpPr>
        <p:spPr>
          <a:xfrm>
            <a:off x="4206240" y="4709160"/>
            <a:ext cx="7345375" cy="685800"/>
          </a:xfrm>
          <a:prstGeom prst="rect">
            <a:avLst/>
          </a:prstGeom>
          <a:noFill/>
          <a:ln/>
        </p:spPr>
        <p:txBody>
          <a:bodyPr wrap="square" lIns="0" tIns="0" rIns="0" bIns="0" rtlCol="0" anchor="ctr"/>
          <a:lstStyle/>
          <a:p>
            <a:pPr indent="0" marL="0">
              <a:buNone/>
            </a:pPr>
            <a:r>
              <a:rPr lang="en-US" sz="1250" dirty="0">
                <a:solidFill>
                  <a:srgbClr val="9AA1B4"/>
                </a:solidFill>
                <a:latin typeface="Calibri" pitchFamily="34" charset="0"/>
                <a:ea typeface="Calibri" pitchFamily="34" charset="-122"/>
                <a:cs typeface="Calibri" pitchFamily="34" charset="-120"/>
              </a:rPr>
              <a:t>Lock the brand (domain, socials, app store handles) and set up the right legal structure once real users are involved.</a:t>
            </a:r>
            <a:endParaRPr lang="en-US" sz="1250" dirty="0"/>
          </a:p>
        </p:txBody>
      </p:sp>
      <p:sp>
        <p:nvSpPr>
          <p:cNvPr id="19" name="Text 17"/>
          <p:cNvSpPr/>
          <p:nvPr/>
        </p:nvSpPr>
        <p:spPr>
          <a:xfrm>
            <a:off x="548640" y="6400800"/>
            <a:ext cx="5486400" cy="274320"/>
          </a:xfrm>
          <a:prstGeom prst="rect">
            <a:avLst/>
          </a:prstGeom>
          <a:noFill/>
          <a:ln/>
        </p:spPr>
        <p:txBody>
          <a:bodyPr wrap="square" lIns="0" tIns="0" rIns="0" bIns="0" rtlCol="0" anchor="ctr"/>
          <a:lstStyle/>
          <a:p>
            <a:pPr algn="l" indent="0" marL="0">
              <a:buNone/>
            </a:pPr>
            <a:r>
              <a:rPr lang="en-US" sz="1000" dirty="0">
                <a:solidFill>
                  <a:srgbClr val="616880"/>
                </a:solidFill>
                <a:latin typeface="Calibri" pitchFamily="34" charset="0"/>
                <a:ea typeface="Calibri" pitchFamily="34" charset="-122"/>
                <a:cs typeface="Calibri" pitchFamily="34" charset="-120"/>
              </a:rPr>
              <a:t>GameBasket — Concept Pitch</a:t>
            </a:r>
            <a:endParaRPr lang="en-US" sz="1000" dirty="0"/>
          </a:p>
        </p:txBody>
      </p:sp>
      <p:sp>
        <p:nvSpPr>
          <p:cNvPr id="20" name="Shape 18"/>
          <p:cNvSpPr/>
          <p:nvPr/>
        </p:nvSpPr>
        <p:spPr>
          <a:xfrm>
            <a:off x="10765231" y="6437376"/>
            <a:ext cx="109728" cy="109728"/>
          </a:xfrm>
          <a:prstGeom prst="ellipse">
            <a:avLst/>
          </a:prstGeom>
          <a:solidFill>
            <a:srgbClr val="E8564A"/>
          </a:solidFill>
          <a:ln/>
        </p:spPr>
      </p:sp>
      <p:sp>
        <p:nvSpPr>
          <p:cNvPr id="21" name="Shape 19"/>
          <p:cNvSpPr/>
          <p:nvPr/>
        </p:nvSpPr>
        <p:spPr>
          <a:xfrm>
            <a:off x="10948111" y="6437376"/>
            <a:ext cx="109728" cy="109728"/>
          </a:xfrm>
          <a:prstGeom prst="ellipse">
            <a:avLst/>
          </a:prstGeom>
          <a:solidFill>
            <a:srgbClr val="2E56A6"/>
          </a:solidFill>
          <a:ln/>
        </p:spPr>
      </p:sp>
      <p:sp>
        <p:nvSpPr>
          <p:cNvPr id="22" name="Shape 20"/>
          <p:cNvSpPr/>
          <p:nvPr/>
        </p:nvSpPr>
        <p:spPr>
          <a:xfrm>
            <a:off x="11130991" y="6437376"/>
            <a:ext cx="109728" cy="109728"/>
          </a:xfrm>
          <a:prstGeom prst="ellipse">
            <a:avLst/>
          </a:prstGeom>
          <a:solidFill>
            <a:srgbClr val="47AD6C"/>
          </a:solidFill>
          <a:ln/>
        </p:spPr>
      </p:sp>
      <p:sp>
        <p:nvSpPr>
          <p:cNvPr id="23" name="Shape 21"/>
          <p:cNvSpPr/>
          <p:nvPr/>
        </p:nvSpPr>
        <p:spPr>
          <a:xfrm>
            <a:off x="11313871" y="6437376"/>
            <a:ext cx="109728" cy="109728"/>
          </a:xfrm>
          <a:prstGeom prst="ellipse">
            <a:avLst/>
          </a:prstGeom>
          <a:solidFill>
            <a:srgbClr val="F1BC3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41C"/>
        </a:solidFill>
      </p:bgPr>
    </p:bg>
    <p:spTree>
      <p:nvGrpSpPr>
        <p:cNvPr id="1" name=""/>
        <p:cNvGrpSpPr/>
        <p:nvPr/>
      </p:nvGrpSpPr>
      <p:grpSpPr>
        <a:xfrm>
          <a:off x="0" y="0"/>
          <a:ext cx="0" cy="0"/>
          <a:chOff x="0" y="0"/>
          <a:chExt cx="0" cy="0"/>
        </a:xfrm>
      </p:grpSpPr>
      <p:pic>
        <p:nvPicPr>
          <p:cNvPr id="2" name="Image 0" descr="/home/claude/icon_transparent.png">    </p:cNvPr>
          <p:cNvPicPr>
            <a:picLocks noChangeAspect="1"/>
          </p:cNvPicPr>
          <p:nvPr/>
        </p:nvPicPr>
        <p:blipFill>
          <a:blip r:embed="rId1"/>
          <a:stretch>
            <a:fillRect/>
          </a:stretch>
        </p:blipFill>
        <p:spPr>
          <a:xfrm>
            <a:off x="5592928" y="685800"/>
            <a:ext cx="1005840" cy="1009302"/>
          </a:xfrm>
          <a:prstGeom prst="rect">
            <a:avLst/>
          </a:prstGeom>
        </p:spPr>
      </p:pic>
      <p:sp>
        <p:nvSpPr>
          <p:cNvPr id="3" name="Text 0"/>
          <p:cNvSpPr/>
          <p:nvPr/>
        </p:nvSpPr>
        <p:spPr>
          <a:xfrm>
            <a:off x="1371600" y="1969422"/>
            <a:ext cx="9448495" cy="640080"/>
          </a:xfrm>
          <a:prstGeom prst="rect">
            <a:avLst/>
          </a:prstGeom>
          <a:noFill/>
          <a:ln/>
        </p:spPr>
        <p:txBody>
          <a:bodyPr wrap="square" lIns="0" tIns="0" rIns="0" bIns="0" rtlCol="0" anchor="ctr"/>
          <a:lstStyle/>
          <a:p>
            <a:pPr algn="ctr" indent="0" marL="0">
              <a:buNone/>
            </a:pPr>
            <a:r>
              <a:rPr lang="en-US" sz="2800" b="1" dirty="0">
                <a:solidFill>
                  <a:srgbClr val="F4F5F9"/>
                </a:solidFill>
                <a:latin typeface="Baloo 2" pitchFamily="34" charset="0"/>
                <a:ea typeface="Baloo 2" pitchFamily="34" charset="-122"/>
                <a:cs typeface="Baloo 2" pitchFamily="34" charset="-120"/>
              </a:rPr>
              <a:t>I don't want to build this alone.</a:t>
            </a:r>
            <a:endParaRPr lang="en-US" sz="2800" dirty="0"/>
          </a:p>
        </p:txBody>
      </p:sp>
      <p:sp>
        <p:nvSpPr>
          <p:cNvPr id="4" name="Text 1"/>
          <p:cNvSpPr/>
          <p:nvPr/>
        </p:nvSpPr>
        <p:spPr>
          <a:xfrm>
            <a:off x="1737360" y="2609502"/>
            <a:ext cx="8716975" cy="1005840"/>
          </a:xfrm>
          <a:prstGeom prst="rect">
            <a:avLst/>
          </a:prstGeom>
          <a:noFill/>
          <a:ln/>
        </p:spPr>
        <p:txBody>
          <a:bodyPr wrap="square" lIns="0" tIns="0" rIns="0" bIns="0" rtlCol="0" anchor="ctr"/>
          <a:lstStyle/>
          <a:p>
            <a:pPr algn="ctr" indent="0" marL="0">
              <a:buNone/>
            </a:pPr>
            <a:r>
              <a:rPr lang="en-US" sz="1400" dirty="0">
                <a:solidFill>
                  <a:srgbClr val="9AA1B4"/>
                </a:solidFill>
                <a:latin typeface="Calibri" pitchFamily="34" charset="0"/>
                <a:ea typeface="Calibri" pitchFamily="34" charset="-122"/>
                <a:cs typeface="Calibri" pitchFamily="34" charset="-120"/>
              </a:rPr>
              <a:t>I can bring the business side — finance, market research, brand. What this needs next is someone to help shape the product and build it with me. This deck is the proof of concept. The rest is up to us.</a:t>
            </a:r>
            <a:endParaRPr lang="en-US" sz="1400" dirty="0"/>
          </a:p>
        </p:txBody>
      </p:sp>
      <p:sp>
        <p:nvSpPr>
          <p:cNvPr id="5" name="Text 2"/>
          <p:cNvSpPr/>
          <p:nvPr/>
        </p:nvSpPr>
        <p:spPr>
          <a:xfrm>
            <a:off x="1371600" y="5394960"/>
            <a:ext cx="9448495" cy="548640"/>
          </a:xfrm>
          <a:prstGeom prst="rect">
            <a:avLst/>
          </a:prstGeom>
          <a:noFill/>
          <a:ln/>
        </p:spPr>
        <p:txBody>
          <a:bodyPr wrap="square" lIns="0" tIns="0" rIns="0" bIns="0" rtlCol="0" anchor="ctr"/>
          <a:lstStyle/>
          <a:p>
            <a:pPr algn="ctr" indent="0" marL="0">
              <a:buNone/>
            </a:pPr>
            <a:r>
              <a:rPr lang="en-US" sz="2000" b="1" dirty="0">
                <a:solidFill>
                  <a:srgbClr val="E8564A"/>
                </a:solidFill>
                <a:latin typeface="Baloo 2" pitchFamily="34" charset="0"/>
                <a:ea typeface="Baloo 2" pitchFamily="34" charset="-122"/>
                <a:cs typeface="Baloo 2" pitchFamily="34" charset="-120"/>
              </a:rPr>
              <a:t>Let's basket this together.</a:t>
            </a:r>
            <a:endParaRPr lang="en-US" sz="2000" dirty="0"/>
          </a:p>
        </p:txBody>
      </p:sp>
      <p:sp>
        <p:nvSpPr>
          <p:cNvPr id="6" name="Shape 3"/>
          <p:cNvSpPr/>
          <p:nvPr/>
        </p:nvSpPr>
        <p:spPr>
          <a:xfrm>
            <a:off x="5638648" y="6080760"/>
            <a:ext cx="146304" cy="146304"/>
          </a:xfrm>
          <a:prstGeom prst="ellipse">
            <a:avLst/>
          </a:prstGeom>
          <a:solidFill>
            <a:srgbClr val="E8564A"/>
          </a:solidFill>
          <a:ln/>
        </p:spPr>
      </p:sp>
      <p:sp>
        <p:nvSpPr>
          <p:cNvPr id="7" name="Shape 4"/>
          <p:cNvSpPr/>
          <p:nvPr/>
        </p:nvSpPr>
        <p:spPr>
          <a:xfrm>
            <a:off x="5894680" y="6080760"/>
            <a:ext cx="146304" cy="146304"/>
          </a:xfrm>
          <a:prstGeom prst="ellipse">
            <a:avLst/>
          </a:prstGeom>
          <a:solidFill>
            <a:srgbClr val="2E56A6"/>
          </a:solidFill>
          <a:ln/>
        </p:spPr>
      </p:sp>
      <p:sp>
        <p:nvSpPr>
          <p:cNvPr id="8" name="Shape 5"/>
          <p:cNvSpPr/>
          <p:nvPr/>
        </p:nvSpPr>
        <p:spPr>
          <a:xfrm>
            <a:off x="6150712" y="6080760"/>
            <a:ext cx="146304" cy="146304"/>
          </a:xfrm>
          <a:prstGeom prst="ellipse">
            <a:avLst/>
          </a:prstGeom>
          <a:solidFill>
            <a:srgbClr val="47AD6C"/>
          </a:solidFill>
          <a:ln/>
        </p:spPr>
      </p:sp>
      <p:sp>
        <p:nvSpPr>
          <p:cNvPr id="9" name="Shape 6"/>
          <p:cNvSpPr/>
          <p:nvPr/>
        </p:nvSpPr>
        <p:spPr>
          <a:xfrm>
            <a:off x="6406744" y="6080760"/>
            <a:ext cx="146304" cy="146304"/>
          </a:xfrm>
          <a:prstGeom prst="ellipse">
            <a:avLst/>
          </a:prstGeom>
          <a:solidFill>
            <a:srgbClr val="F1BC3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2026-07-28T20:19:24Z</dcterms:created>
  <dcterms:modified xsi:type="dcterms:W3CDTF">2026-07-28T20:19:24Z</dcterms:modified>
</cp:coreProperties>
</file>